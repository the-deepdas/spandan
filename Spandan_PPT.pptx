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07340"/>
          </a:xfrm>
          <a:custGeom>
            <a:avLst/>
            <a:gdLst/>
            <a:ahLst/>
            <a:cxnLst/>
            <a:rect l="l" t="t" r="r" b="b"/>
            <a:pathLst>
              <a:path w="5760085" h="307340">
                <a:moveTo>
                  <a:pt x="5759996" y="0"/>
                </a:moveTo>
                <a:lnTo>
                  <a:pt x="0" y="0"/>
                </a:lnTo>
                <a:lnTo>
                  <a:pt x="0" y="307098"/>
                </a:lnTo>
                <a:lnTo>
                  <a:pt x="5759996" y="307098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1013"/>
            <a:ext cx="302577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705492"/>
            <a:ext cx="2022475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55" b="1">
                <a:latin typeface="Arial"/>
                <a:cs typeface="Arial"/>
              </a:rPr>
              <a:t>AI</a:t>
            </a:r>
            <a:r>
              <a:rPr dirty="0" sz="1700" spc="165" b="1">
                <a:latin typeface="Arial"/>
                <a:cs typeface="Arial"/>
              </a:rPr>
              <a:t> </a:t>
            </a:r>
            <a:r>
              <a:rPr dirty="0" sz="1700" spc="120" b="1">
                <a:latin typeface="Arial"/>
                <a:cs typeface="Arial"/>
              </a:rPr>
              <a:t>TEAM</a:t>
            </a:r>
            <a:r>
              <a:rPr dirty="0" sz="1700" spc="16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UPDATE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7294" y="1113680"/>
            <a:ext cx="347345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 b="0">
                <a:solidFill>
                  <a:srgbClr val="4C4C4C"/>
                </a:solidFill>
                <a:latin typeface="Tahoma"/>
                <a:cs typeface="Tahoma"/>
              </a:rPr>
              <a:t>Spandan</a:t>
            </a:r>
            <a:r>
              <a:rPr dirty="0" sz="1000" spc="-40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b="0">
                <a:solidFill>
                  <a:srgbClr val="4C4C4C"/>
                </a:solidFill>
                <a:latin typeface="Tahoma"/>
                <a:cs typeface="Tahoma"/>
              </a:rPr>
              <a:t>Project</a:t>
            </a:r>
            <a:r>
              <a:rPr dirty="0" sz="1000" spc="-35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b="0">
                <a:solidFill>
                  <a:srgbClr val="4C4C4C"/>
                </a:solidFill>
                <a:latin typeface="Tahoma"/>
                <a:cs typeface="Tahoma"/>
              </a:rPr>
              <a:t>-</a:t>
            </a:r>
            <a:r>
              <a:rPr dirty="0" sz="1000" spc="-40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b="0">
                <a:solidFill>
                  <a:srgbClr val="4C4C4C"/>
                </a:solidFill>
                <a:latin typeface="Tahoma"/>
                <a:cs typeface="Tahoma"/>
              </a:rPr>
              <a:t>AI</a:t>
            </a:r>
            <a:r>
              <a:rPr dirty="0" sz="1000" spc="-30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spc="-25" b="0">
                <a:solidFill>
                  <a:srgbClr val="4C4C4C"/>
                </a:solidFill>
                <a:latin typeface="Tahoma"/>
                <a:cs typeface="Tahoma"/>
              </a:rPr>
              <a:t>Enabled</a:t>
            </a:r>
            <a:r>
              <a:rPr dirty="0" sz="1000" spc="-35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C4C4C"/>
                </a:solidFill>
                <a:latin typeface="Tahoma"/>
                <a:cs typeface="Tahoma"/>
              </a:rPr>
              <a:t>smart</a:t>
            </a:r>
            <a:r>
              <a:rPr dirty="0" sz="1000" spc="-40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spc="-45" b="0">
                <a:solidFill>
                  <a:srgbClr val="4C4C4C"/>
                </a:solidFill>
                <a:latin typeface="Tahoma"/>
                <a:cs typeface="Tahoma"/>
              </a:rPr>
              <a:t>watches</a:t>
            </a:r>
            <a:r>
              <a:rPr dirty="0" sz="1000" spc="-35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spc="-10" b="0">
                <a:solidFill>
                  <a:srgbClr val="4C4C4C"/>
                </a:solidFill>
                <a:latin typeface="Tahoma"/>
                <a:cs typeface="Tahoma"/>
              </a:rPr>
              <a:t>for</a:t>
            </a:r>
            <a:r>
              <a:rPr dirty="0" sz="1000" spc="-35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spc="-10" b="0">
                <a:solidFill>
                  <a:srgbClr val="4C4C4C"/>
                </a:solidFill>
                <a:latin typeface="Tahoma"/>
                <a:cs typeface="Tahoma"/>
              </a:rPr>
              <a:t>police</a:t>
            </a:r>
            <a:r>
              <a:rPr dirty="0" sz="1000" spc="-40" b="0">
                <a:solidFill>
                  <a:srgbClr val="4C4C4C"/>
                </a:solidFill>
                <a:latin typeface="Tahoma"/>
                <a:cs typeface="Tahoma"/>
              </a:rPr>
              <a:t> </a:t>
            </a:r>
            <a:r>
              <a:rPr dirty="0" sz="1000" spc="-30" b="0">
                <a:solidFill>
                  <a:srgbClr val="4C4C4C"/>
                </a:solidFill>
                <a:latin typeface="Tahoma"/>
                <a:cs typeface="Tahoma"/>
              </a:rPr>
              <a:t>personnel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</a:t>
            </a:r>
            <a:r>
              <a:rPr dirty="0" spc="80"/>
              <a:t> </a:t>
            </a:r>
            <a:r>
              <a:rPr dirty="0"/>
              <a:t>Model</a:t>
            </a:r>
            <a:r>
              <a:rPr dirty="0" spc="80"/>
              <a:t> </a:t>
            </a:r>
            <a:r>
              <a:rPr dirty="0" spc="-30"/>
              <a:t>Workflow</a:t>
            </a:r>
            <a:r>
              <a:rPr dirty="0" spc="80"/>
              <a:t> </a:t>
            </a:r>
            <a:r>
              <a:rPr dirty="0" spc="-2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801" y="1213216"/>
            <a:ext cx="603250" cy="325755"/>
            <a:chOff x="359801" y="1213216"/>
            <a:chExt cx="603250" cy="325755"/>
          </a:xfrm>
        </p:grpSpPr>
        <p:sp>
          <p:nvSpPr>
            <p:cNvPr id="4" name="object 4"/>
            <p:cNvSpPr/>
            <p:nvPr/>
          </p:nvSpPr>
          <p:spPr>
            <a:xfrm>
              <a:off x="362976" y="1216391"/>
              <a:ext cx="596900" cy="319405"/>
            </a:xfrm>
            <a:custGeom>
              <a:avLst/>
              <a:gdLst/>
              <a:ahLst/>
              <a:cxnLst/>
              <a:rect l="l" t="t" r="r" b="b"/>
              <a:pathLst>
                <a:path w="596900" h="319405">
                  <a:moveTo>
                    <a:pt x="590014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312682"/>
                  </a:lnTo>
                  <a:lnTo>
                    <a:pt x="6680" y="319363"/>
                  </a:lnTo>
                  <a:lnTo>
                    <a:pt x="590014" y="319363"/>
                  </a:lnTo>
                  <a:lnTo>
                    <a:pt x="596694" y="312682"/>
                  </a:lnTo>
                  <a:lnTo>
                    <a:pt x="596694" y="6680"/>
                  </a:lnTo>
                  <a:lnTo>
                    <a:pt x="590014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62976" y="1216391"/>
              <a:ext cx="596900" cy="319405"/>
            </a:xfrm>
            <a:custGeom>
              <a:avLst/>
              <a:gdLst/>
              <a:ahLst/>
              <a:cxnLst/>
              <a:rect l="l" t="t" r="r" b="b"/>
              <a:pathLst>
                <a:path w="596900" h="319405">
                  <a:moveTo>
                    <a:pt x="581773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304441"/>
                  </a:lnTo>
                  <a:lnTo>
                    <a:pt x="0" y="312682"/>
                  </a:lnTo>
                  <a:lnTo>
                    <a:pt x="6680" y="319363"/>
                  </a:lnTo>
                  <a:lnTo>
                    <a:pt x="14921" y="319363"/>
                  </a:lnTo>
                  <a:lnTo>
                    <a:pt x="581773" y="319363"/>
                  </a:lnTo>
                  <a:lnTo>
                    <a:pt x="590014" y="319363"/>
                  </a:lnTo>
                  <a:lnTo>
                    <a:pt x="596694" y="312682"/>
                  </a:lnTo>
                  <a:lnTo>
                    <a:pt x="596694" y="304441"/>
                  </a:lnTo>
                  <a:lnTo>
                    <a:pt x="596694" y="14921"/>
                  </a:lnTo>
                  <a:lnTo>
                    <a:pt x="596694" y="6680"/>
                  </a:lnTo>
                  <a:lnTo>
                    <a:pt x="590014" y="0"/>
                  </a:lnTo>
                  <a:lnTo>
                    <a:pt x="581773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19020" y="1207839"/>
            <a:ext cx="485140" cy="3187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96800"/>
              </a:lnSpc>
              <a:spcBef>
                <a:spcPts val="135"/>
              </a:spcBef>
            </a:pPr>
            <a:r>
              <a:rPr dirty="0" sz="450" b="1">
                <a:solidFill>
                  <a:srgbClr val="FFFFFF"/>
                </a:solidFill>
                <a:latin typeface="Arial"/>
                <a:cs typeface="Arial"/>
              </a:rPr>
              <a:t>Raw</a:t>
            </a:r>
            <a:r>
              <a:rPr dirty="0" sz="45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20" b="1">
                <a:solidFill>
                  <a:srgbClr val="FFFFFF"/>
                </a:solidFill>
                <a:latin typeface="Arial"/>
                <a:cs typeface="Arial"/>
              </a:rPr>
              <a:t>Sensor</a:t>
            </a:r>
            <a:r>
              <a:rPr dirty="0" sz="45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25" b="1">
                <a:solidFill>
                  <a:srgbClr val="FFFFFF"/>
                </a:solidFill>
                <a:latin typeface="Arial"/>
                <a:cs typeface="Arial"/>
              </a:rPr>
              <a:t>CSV</a:t>
            </a:r>
            <a:r>
              <a:rPr dirty="0" sz="45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HR,</a:t>
            </a:r>
            <a:r>
              <a:rPr dirty="0" sz="500" spc="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Accel,</a:t>
            </a:r>
            <a:r>
              <a:rPr dirty="0" sz="50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Gyro,</a:t>
            </a:r>
            <a:r>
              <a:rPr dirty="0" sz="5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20" b="1">
                <a:solidFill>
                  <a:srgbClr val="FFFFFF"/>
                </a:solidFill>
                <a:latin typeface="Arial"/>
                <a:cs typeface="Arial"/>
              </a:rPr>
              <a:t>GPS,</a:t>
            </a:r>
            <a:r>
              <a:rPr dirty="0" sz="50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Timestamps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66915" y="1010926"/>
            <a:ext cx="560705" cy="178435"/>
            <a:chOff x="1066915" y="1010926"/>
            <a:chExt cx="560705" cy="178435"/>
          </a:xfrm>
        </p:grpSpPr>
        <p:sp>
          <p:nvSpPr>
            <p:cNvPr id="8" name="object 8"/>
            <p:cNvSpPr/>
            <p:nvPr/>
          </p:nvSpPr>
          <p:spPr>
            <a:xfrm>
              <a:off x="1070090" y="1014101"/>
              <a:ext cx="554355" cy="172085"/>
            </a:xfrm>
            <a:custGeom>
              <a:avLst/>
              <a:gdLst/>
              <a:ahLst/>
              <a:cxnLst/>
              <a:rect l="l" t="t" r="r" b="b"/>
              <a:pathLst>
                <a:path w="554355" h="172084">
                  <a:moveTo>
                    <a:pt x="547555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547555" y="172012"/>
                  </a:lnTo>
                  <a:lnTo>
                    <a:pt x="554236" y="165332"/>
                  </a:lnTo>
                  <a:lnTo>
                    <a:pt x="554236" y="6680"/>
                  </a:lnTo>
                  <a:lnTo>
                    <a:pt x="547555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90" y="1014101"/>
              <a:ext cx="554355" cy="172085"/>
            </a:xfrm>
            <a:custGeom>
              <a:avLst/>
              <a:gdLst/>
              <a:ahLst/>
              <a:cxnLst/>
              <a:rect l="l" t="t" r="r" b="b"/>
              <a:pathLst>
                <a:path w="554355" h="172084">
                  <a:moveTo>
                    <a:pt x="539314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57091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14921" y="172012"/>
                  </a:lnTo>
                  <a:lnTo>
                    <a:pt x="539314" y="172012"/>
                  </a:lnTo>
                  <a:lnTo>
                    <a:pt x="547555" y="172012"/>
                  </a:lnTo>
                  <a:lnTo>
                    <a:pt x="554236" y="165332"/>
                  </a:lnTo>
                  <a:lnTo>
                    <a:pt x="554236" y="157091"/>
                  </a:lnTo>
                  <a:lnTo>
                    <a:pt x="554236" y="14921"/>
                  </a:lnTo>
                  <a:lnTo>
                    <a:pt x="554236" y="6680"/>
                  </a:lnTo>
                  <a:lnTo>
                    <a:pt x="547555" y="0"/>
                  </a:lnTo>
                  <a:lnTo>
                    <a:pt x="539314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95158" y="1005555"/>
            <a:ext cx="504190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0">
              <a:lnSpc>
                <a:spcPct val="103299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Extract</a:t>
            </a:r>
            <a:r>
              <a:rPr dirty="0" sz="450" spc="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13</a:t>
            </a:r>
            <a:r>
              <a:rPr dirty="0" sz="450" spc="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111111"/>
                </a:solidFill>
                <a:latin typeface="Arial MT"/>
                <a:cs typeface="Arial MT"/>
              </a:rPr>
              <a:t>base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features</a:t>
            </a:r>
            <a:r>
              <a:rPr dirty="0" sz="45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(per</a:t>
            </a:r>
            <a:r>
              <a:rPr dirty="0" sz="450" spc="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111111"/>
                </a:solidFill>
                <a:latin typeface="Arial MT"/>
                <a:cs typeface="Arial MT"/>
              </a:rPr>
              <a:t>row)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01728" y="1010926"/>
            <a:ext cx="537210" cy="178435"/>
            <a:chOff x="1701728" y="1010926"/>
            <a:chExt cx="537210" cy="178435"/>
          </a:xfrm>
        </p:grpSpPr>
        <p:sp>
          <p:nvSpPr>
            <p:cNvPr id="12" name="object 12"/>
            <p:cNvSpPr/>
            <p:nvPr/>
          </p:nvSpPr>
          <p:spPr>
            <a:xfrm>
              <a:off x="1704903" y="1014101"/>
              <a:ext cx="530860" cy="172085"/>
            </a:xfrm>
            <a:custGeom>
              <a:avLst/>
              <a:gdLst/>
              <a:ahLst/>
              <a:cxnLst/>
              <a:rect l="l" t="t" r="r" b="b"/>
              <a:pathLst>
                <a:path w="530860" h="172084">
                  <a:moveTo>
                    <a:pt x="524020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524020" y="172012"/>
                  </a:lnTo>
                  <a:lnTo>
                    <a:pt x="530700" y="165332"/>
                  </a:lnTo>
                  <a:lnTo>
                    <a:pt x="530700" y="6680"/>
                  </a:lnTo>
                  <a:lnTo>
                    <a:pt x="52402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04903" y="1014101"/>
              <a:ext cx="530860" cy="172085"/>
            </a:xfrm>
            <a:custGeom>
              <a:avLst/>
              <a:gdLst/>
              <a:ahLst/>
              <a:cxnLst/>
              <a:rect l="l" t="t" r="r" b="b"/>
              <a:pathLst>
                <a:path w="530860" h="172084">
                  <a:moveTo>
                    <a:pt x="515779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57091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14921" y="172012"/>
                  </a:lnTo>
                  <a:lnTo>
                    <a:pt x="515779" y="172012"/>
                  </a:lnTo>
                  <a:lnTo>
                    <a:pt x="524020" y="172012"/>
                  </a:lnTo>
                  <a:lnTo>
                    <a:pt x="530700" y="165332"/>
                  </a:lnTo>
                  <a:lnTo>
                    <a:pt x="530700" y="157091"/>
                  </a:lnTo>
                  <a:lnTo>
                    <a:pt x="530700" y="14921"/>
                  </a:lnTo>
                  <a:lnTo>
                    <a:pt x="530700" y="6680"/>
                  </a:lnTo>
                  <a:lnTo>
                    <a:pt x="524020" y="0"/>
                  </a:lnTo>
                  <a:lnTo>
                    <a:pt x="515779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48950" y="1005555"/>
            <a:ext cx="443230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 marR="5080" indent="-7620">
              <a:lnSpc>
                <a:spcPct val="103299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Standard</a:t>
            </a:r>
            <a:r>
              <a:rPr dirty="0" sz="45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Scaler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(500k</a:t>
            </a:r>
            <a:r>
              <a:rPr dirty="0" sz="450" spc="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samples)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13006" y="1018387"/>
            <a:ext cx="537210" cy="163830"/>
            <a:chOff x="2313006" y="1018387"/>
            <a:chExt cx="537210" cy="163830"/>
          </a:xfrm>
        </p:grpSpPr>
        <p:sp>
          <p:nvSpPr>
            <p:cNvPr id="16" name="object 16"/>
            <p:cNvSpPr/>
            <p:nvPr/>
          </p:nvSpPr>
          <p:spPr>
            <a:xfrm>
              <a:off x="2316181" y="1021562"/>
              <a:ext cx="530860" cy="157480"/>
            </a:xfrm>
            <a:custGeom>
              <a:avLst/>
              <a:gdLst/>
              <a:ahLst/>
              <a:cxnLst/>
              <a:rect l="l" t="t" r="r" b="b"/>
              <a:pathLst>
                <a:path w="530860" h="157480">
                  <a:moveTo>
                    <a:pt x="524020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524020" y="157091"/>
                  </a:lnTo>
                  <a:lnTo>
                    <a:pt x="530700" y="150410"/>
                  </a:lnTo>
                  <a:lnTo>
                    <a:pt x="530700" y="6680"/>
                  </a:lnTo>
                  <a:lnTo>
                    <a:pt x="52402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16181" y="1021562"/>
              <a:ext cx="530860" cy="157480"/>
            </a:xfrm>
            <a:custGeom>
              <a:avLst/>
              <a:gdLst/>
              <a:ahLst/>
              <a:cxnLst/>
              <a:rect l="l" t="t" r="r" b="b"/>
              <a:pathLst>
                <a:path w="530860" h="157480">
                  <a:moveTo>
                    <a:pt x="515778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42169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14921" y="157091"/>
                  </a:lnTo>
                  <a:lnTo>
                    <a:pt x="515778" y="157091"/>
                  </a:lnTo>
                  <a:lnTo>
                    <a:pt x="524020" y="157091"/>
                  </a:lnTo>
                  <a:lnTo>
                    <a:pt x="530700" y="150410"/>
                  </a:lnTo>
                  <a:lnTo>
                    <a:pt x="530700" y="142169"/>
                  </a:lnTo>
                  <a:lnTo>
                    <a:pt x="530700" y="14921"/>
                  </a:lnTo>
                  <a:lnTo>
                    <a:pt x="530700" y="6680"/>
                  </a:lnTo>
                  <a:lnTo>
                    <a:pt x="524020" y="0"/>
                  </a:lnTo>
                  <a:lnTo>
                    <a:pt x="515778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360064" y="1013014"/>
            <a:ext cx="443230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870" marR="5080" indent="-90805">
              <a:lnSpc>
                <a:spcPct val="103400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dirty="0" sz="450" spc="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1</a:t>
            </a:r>
            <a:r>
              <a:rPr dirty="0" sz="450" spc="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111111"/>
                </a:solidFill>
                <a:latin typeface="Arial MT"/>
                <a:cs typeface="Arial MT"/>
              </a:rPr>
              <a:t>ONNX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Inference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25519" y="999878"/>
            <a:ext cx="436880" cy="200660"/>
            <a:chOff x="2925519" y="999878"/>
            <a:chExt cx="436880" cy="200660"/>
          </a:xfrm>
        </p:grpSpPr>
        <p:sp>
          <p:nvSpPr>
            <p:cNvPr id="20" name="object 20"/>
            <p:cNvSpPr/>
            <p:nvPr/>
          </p:nvSpPr>
          <p:spPr>
            <a:xfrm>
              <a:off x="2928694" y="1003053"/>
              <a:ext cx="430530" cy="194310"/>
            </a:xfrm>
            <a:custGeom>
              <a:avLst/>
              <a:gdLst/>
              <a:ahLst/>
              <a:cxnLst/>
              <a:rect l="l" t="t" r="r" b="b"/>
              <a:pathLst>
                <a:path w="430529" h="194309">
                  <a:moveTo>
                    <a:pt x="215003" y="0"/>
                  </a:moveTo>
                  <a:lnTo>
                    <a:pt x="0" y="97054"/>
                  </a:lnTo>
                  <a:lnTo>
                    <a:pt x="215003" y="194109"/>
                  </a:lnTo>
                  <a:lnTo>
                    <a:pt x="430007" y="97054"/>
                  </a:lnTo>
                  <a:lnTo>
                    <a:pt x="215003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28694" y="1003053"/>
              <a:ext cx="430530" cy="194310"/>
            </a:xfrm>
            <a:custGeom>
              <a:avLst/>
              <a:gdLst/>
              <a:ahLst/>
              <a:cxnLst/>
              <a:rect l="l" t="t" r="r" b="b"/>
              <a:pathLst>
                <a:path w="430529" h="194309">
                  <a:moveTo>
                    <a:pt x="430007" y="97054"/>
                  </a:moveTo>
                  <a:lnTo>
                    <a:pt x="215003" y="0"/>
                  </a:lnTo>
                  <a:lnTo>
                    <a:pt x="0" y="97054"/>
                  </a:lnTo>
                  <a:lnTo>
                    <a:pt x="215003" y="194109"/>
                  </a:lnTo>
                  <a:lnTo>
                    <a:pt x="430007" y="97054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053831" y="1053838"/>
            <a:ext cx="179705" cy="7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" spc="-10">
                <a:solidFill>
                  <a:srgbClr val="111111"/>
                </a:solidFill>
                <a:latin typeface="Arial MT"/>
                <a:cs typeface="Arial MT"/>
              </a:rPr>
              <a:t>Argmax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437339" y="973829"/>
            <a:ext cx="603250" cy="252729"/>
            <a:chOff x="3437339" y="973829"/>
            <a:chExt cx="603250" cy="252729"/>
          </a:xfrm>
        </p:grpSpPr>
        <p:sp>
          <p:nvSpPr>
            <p:cNvPr id="24" name="object 24"/>
            <p:cNvSpPr/>
            <p:nvPr/>
          </p:nvSpPr>
          <p:spPr>
            <a:xfrm>
              <a:off x="3440514" y="977004"/>
              <a:ext cx="596900" cy="246379"/>
            </a:xfrm>
            <a:custGeom>
              <a:avLst/>
              <a:gdLst/>
              <a:ahLst/>
              <a:cxnLst/>
              <a:rect l="l" t="t" r="r" b="b"/>
              <a:pathLst>
                <a:path w="596900" h="246380">
                  <a:moveTo>
                    <a:pt x="590014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239525"/>
                  </a:lnTo>
                  <a:lnTo>
                    <a:pt x="6680" y="246206"/>
                  </a:lnTo>
                  <a:lnTo>
                    <a:pt x="590014" y="246206"/>
                  </a:lnTo>
                  <a:lnTo>
                    <a:pt x="596694" y="239525"/>
                  </a:lnTo>
                  <a:lnTo>
                    <a:pt x="596694" y="6680"/>
                  </a:lnTo>
                  <a:lnTo>
                    <a:pt x="590014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440514" y="977004"/>
              <a:ext cx="596900" cy="246379"/>
            </a:xfrm>
            <a:custGeom>
              <a:avLst/>
              <a:gdLst/>
              <a:ahLst/>
              <a:cxnLst/>
              <a:rect l="l" t="t" r="r" b="b"/>
              <a:pathLst>
                <a:path w="596900" h="246380">
                  <a:moveTo>
                    <a:pt x="581773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231284"/>
                  </a:lnTo>
                  <a:lnTo>
                    <a:pt x="0" y="239525"/>
                  </a:lnTo>
                  <a:lnTo>
                    <a:pt x="6680" y="246206"/>
                  </a:lnTo>
                  <a:lnTo>
                    <a:pt x="14921" y="246206"/>
                  </a:lnTo>
                  <a:lnTo>
                    <a:pt x="581773" y="246206"/>
                  </a:lnTo>
                  <a:lnTo>
                    <a:pt x="590014" y="246206"/>
                  </a:lnTo>
                  <a:lnTo>
                    <a:pt x="596694" y="239525"/>
                  </a:lnTo>
                  <a:lnTo>
                    <a:pt x="596694" y="231284"/>
                  </a:lnTo>
                  <a:lnTo>
                    <a:pt x="596694" y="14921"/>
                  </a:lnTo>
                  <a:lnTo>
                    <a:pt x="596694" y="6680"/>
                  </a:lnTo>
                  <a:lnTo>
                    <a:pt x="590014" y="0"/>
                  </a:lnTo>
                  <a:lnTo>
                    <a:pt x="581773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483134" y="971774"/>
            <a:ext cx="51180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marR="5080" indent="-21590">
              <a:lnSpc>
                <a:spcPct val="103299"/>
              </a:lnSpc>
              <a:spcBef>
                <a:spcPts val="100"/>
              </a:spcBef>
            </a:pP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STRESS </a:t>
            </a:r>
            <a:r>
              <a:rPr dirty="0" sz="450" spc="12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PHYS-</a:t>
            </a:r>
            <a:r>
              <a:rPr dirty="0" sz="450">
                <a:solidFill>
                  <a:srgbClr val="FFFFFF"/>
                </a:solidFill>
                <a:latin typeface="Arial MT"/>
                <a:cs typeface="Arial MT"/>
              </a:rPr>
              <a:t>ICAL</a:t>
            </a:r>
            <a:r>
              <a:rPr dirty="0" sz="4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ACTIVITY</a:t>
            </a:r>
            <a:endParaRPr sz="45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  <a:spcBef>
                <a:spcPts val="20"/>
              </a:spcBef>
            </a:pPr>
            <a:r>
              <a:rPr dirty="0" sz="450" spc="12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NORMAL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66915" y="1570317"/>
            <a:ext cx="537210" cy="163830"/>
            <a:chOff x="1066915" y="1570317"/>
            <a:chExt cx="537210" cy="163830"/>
          </a:xfrm>
        </p:grpSpPr>
        <p:sp>
          <p:nvSpPr>
            <p:cNvPr id="28" name="object 28"/>
            <p:cNvSpPr/>
            <p:nvPr/>
          </p:nvSpPr>
          <p:spPr>
            <a:xfrm>
              <a:off x="1070090" y="1573492"/>
              <a:ext cx="530860" cy="157480"/>
            </a:xfrm>
            <a:custGeom>
              <a:avLst/>
              <a:gdLst/>
              <a:ahLst/>
              <a:cxnLst/>
              <a:rect l="l" t="t" r="r" b="b"/>
              <a:pathLst>
                <a:path w="530860" h="157480">
                  <a:moveTo>
                    <a:pt x="524020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524020" y="157091"/>
                  </a:lnTo>
                  <a:lnTo>
                    <a:pt x="530700" y="150410"/>
                  </a:lnTo>
                  <a:lnTo>
                    <a:pt x="530700" y="6680"/>
                  </a:lnTo>
                  <a:lnTo>
                    <a:pt x="52402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70090" y="1573492"/>
              <a:ext cx="530860" cy="157480"/>
            </a:xfrm>
            <a:custGeom>
              <a:avLst/>
              <a:gdLst/>
              <a:ahLst/>
              <a:cxnLst/>
              <a:rect l="l" t="t" r="r" b="b"/>
              <a:pathLst>
                <a:path w="530860" h="157480">
                  <a:moveTo>
                    <a:pt x="515779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42169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14921" y="157091"/>
                  </a:lnTo>
                  <a:lnTo>
                    <a:pt x="515779" y="157091"/>
                  </a:lnTo>
                  <a:lnTo>
                    <a:pt x="524020" y="157091"/>
                  </a:lnTo>
                  <a:lnTo>
                    <a:pt x="530700" y="150410"/>
                  </a:lnTo>
                  <a:lnTo>
                    <a:pt x="530700" y="142169"/>
                  </a:lnTo>
                  <a:lnTo>
                    <a:pt x="530700" y="14921"/>
                  </a:lnTo>
                  <a:lnTo>
                    <a:pt x="530700" y="6680"/>
                  </a:lnTo>
                  <a:lnTo>
                    <a:pt x="524020" y="0"/>
                  </a:lnTo>
                  <a:lnTo>
                    <a:pt x="515779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150402" y="1564937"/>
            <a:ext cx="370205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020">
              <a:lnSpc>
                <a:spcPct val="103400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Extract</a:t>
            </a:r>
            <a:r>
              <a:rPr dirty="0" sz="450" spc="1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11111"/>
                </a:solidFill>
                <a:latin typeface="Arial MT"/>
                <a:cs typeface="Arial MT"/>
              </a:rPr>
              <a:t>10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base</a:t>
            </a:r>
            <a:r>
              <a:rPr dirty="0" sz="4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features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78193" y="1564514"/>
            <a:ext cx="537210" cy="175260"/>
            <a:chOff x="1678193" y="1564514"/>
            <a:chExt cx="537210" cy="175260"/>
          </a:xfrm>
        </p:grpSpPr>
        <p:sp>
          <p:nvSpPr>
            <p:cNvPr id="32" name="object 32"/>
            <p:cNvSpPr/>
            <p:nvPr/>
          </p:nvSpPr>
          <p:spPr>
            <a:xfrm>
              <a:off x="1681368" y="1567689"/>
              <a:ext cx="530860" cy="168910"/>
            </a:xfrm>
            <a:custGeom>
              <a:avLst/>
              <a:gdLst/>
              <a:ahLst/>
              <a:cxnLst/>
              <a:rect l="l" t="t" r="r" b="b"/>
              <a:pathLst>
                <a:path w="530860" h="168910">
                  <a:moveTo>
                    <a:pt x="524020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62016"/>
                  </a:lnTo>
                  <a:lnTo>
                    <a:pt x="6680" y="168697"/>
                  </a:lnTo>
                  <a:lnTo>
                    <a:pt x="524020" y="168697"/>
                  </a:lnTo>
                  <a:lnTo>
                    <a:pt x="530700" y="162016"/>
                  </a:lnTo>
                  <a:lnTo>
                    <a:pt x="530700" y="6680"/>
                  </a:lnTo>
                  <a:lnTo>
                    <a:pt x="52402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681368" y="1567689"/>
              <a:ext cx="530860" cy="168910"/>
            </a:xfrm>
            <a:custGeom>
              <a:avLst/>
              <a:gdLst/>
              <a:ahLst/>
              <a:cxnLst/>
              <a:rect l="l" t="t" r="r" b="b"/>
              <a:pathLst>
                <a:path w="530860" h="168910">
                  <a:moveTo>
                    <a:pt x="515779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53775"/>
                  </a:lnTo>
                  <a:lnTo>
                    <a:pt x="0" y="162016"/>
                  </a:lnTo>
                  <a:lnTo>
                    <a:pt x="6680" y="168697"/>
                  </a:lnTo>
                  <a:lnTo>
                    <a:pt x="14921" y="168697"/>
                  </a:lnTo>
                  <a:lnTo>
                    <a:pt x="515779" y="168697"/>
                  </a:lnTo>
                  <a:lnTo>
                    <a:pt x="524020" y="168697"/>
                  </a:lnTo>
                  <a:lnTo>
                    <a:pt x="530700" y="162016"/>
                  </a:lnTo>
                  <a:lnTo>
                    <a:pt x="530700" y="153775"/>
                  </a:lnTo>
                  <a:lnTo>
                    <a:pt x="530700" y="14921"/>
                  </a:lnTo>
                  <a:lnTo>
                    <a:pt x="530700" y="6680"/>
                  </a:lnTo>
                  <a:lnTo>
                    <a:pt x="524020" y="0"/>
                  </a:lnTo>
                  <a:lnTo>
                    <a:pt x="515779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727121" y="1559133"/>
            <a:ext cx="439420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080" indent="-1905">
              <a:lnSpc>
                <a:spcPct val="103400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Sliding</a:t>
            </a:r>
            <a:r>
              <a:rPr dirty="0" sz="45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window: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size</a:t>
            </a:r>
            <a:r>
              <a:rPr dirty="0" sz="4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60,</a:t>
            </a:r>
            <a:r>
              <a:rPr dirty="0" sz="4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step</a:t>
            </a:r>
            <a:r>
              <a:rPr dirty="0" sz="4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35">
                <a:solidFill>
                  <a:srgbClr val="111111"/>
                </a:solidFill>
                <a:latin typeface="Arial MT"/>
                <a:cs typeface="Arial MT"/>
              </a:rPr>
              <a:t>10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89470" y="1570317"/>
            <a:ext cx="539750" cy="163830"/>
            <a:chOff x="2289470" y="1570317"/>
            <a:chExt cx="539750" cy="163830"/>
          </a:xfrm>
        </p:grpSpPr>
        <p:sp>
          <p:nvSpPr>
            <p:cNvPr id="36" name="object 36"/>
            <p:cNvSpPr/>
            <p:nvPr/>
          </p:nvSpPr>
          <p:spPr>
            <a:xfrm>
              <a:off x="2292645" y="1573492"/>
              <a:ext cx="533400" cy="157480"/>
            </a:xfrm>
            <a:custGeom>
              <a:avLst/>
              <a:gdLst/>
              <a:ahLst/>
              <a:cxnLst/>
              <a:rect l="l" t="t" r="r" b="b"/>
              <a:pathLst>
                <a:path w="533400" h="157480">
                  <a:moveTo>
                    <a:pt x="526329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526329" y="157091"/>
                  </a:lnTo>
                  <a:lnTo>
                    <a:pt x="533010" y="150410"/>
                  </a:lnTo>
                  <a:lnTo>
                    <a:pt x="533010" y="6680"/>
                  </a:lnTo>
                  <a:lnTo>
                    <a:pt x="52632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292645" y="1573492"/>
              <a:ext cx="533400" cy="157480"/>
            </a:xfrm>
            <a:custGeom>
              <a:avLst/>
              <a:gdLst/>
              <a:ahLst/>
              <a:cxnLst/>
              <a:rect l="l" t="t" r="r" b="b"/>
              <a:pathLst>
                <a:path w="533400" h="157480">
                  <a:moveTo>
                    <a:pt x="518088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42169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14921" y="157091"/>
                  </a:lnTo>
                  <a:lnTo>
                    <a:pt x="518088" y="157091"/>
                  </a:lnTo>
                  <a:lnTo>
                    <a:pt x="526329" y="157091"/>
                  </a:lnTo>
                  <a:lnTo>
                    <a:pt x="533010" y="150410"/>
                  </a:lnTo>
                  <a:lnTo>
                    <a:pt x="533010" y="142169"/>
                  </a:lnTo>
                  <a:lnTo>
                    <a:pt x="533010" y="14921"/>
                  </a:lnTo>
                  <a:lnTo>
                    <a:pt x="533010" y="6680"/>
                  </a:lnTo>
                  <a:lnTo>
                    <a:pt x="526329" y="0"/>
                  </a:lnTo>
                  <a:lnTo>
                    <a:pt x="518088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381661" y="1564937"/>
            <a:ext cx="354965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415">
              <a:lnSpc>
                <a:spcPct val="103400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Compute</a:t>
            </a:r>
            <a:r>
              <a:rPr dirty="0" sz="450" spc="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50">
                <a:solidFill>
                  <a:srgbClr val="111111"/>
                </a:solidFill>
                <a:latin typeface="Arial MT"/>
                <a:cs typeface="Arial MT"/>
              </a:rPr>
              <a:t>7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stat</a:t>
            </a:r>
            <a:r>
              <a:rPr dirty="0" sz="450" spc="10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features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903056" y="1562856"/>
            <a:ext cx="537210" cy="178435"/>
            <a:chOff x="2903056" y="1562856"/>
            <a:chExt cx="537210" cy="178435"/>
          </a:xfrm>
        </p:grpSpPr>
        <p:sp>
          <p:nvSpPr>
            <p:cNvPr id="40" name="object 40"/>
            <p:cNvSpPr/>
            <p:nvPr/>
          </p:nvSpPr>
          <p:spPr>
            <a:xfrm>
              <a:off x="2906231" y="1566031"/>
              <a:ext cx="530860" cy="172085"/>
            </a:xfrm>
            <a:custGeom>
              <a:avLst/>
              <a:gdLst/>
              <a:ahLst/>
              <a:cxnLst/>
              <a:rect l="l" t="t" r="r" b="b"/>
              <a:pathLst>
                <a:path w="530860" h="172085">
                  <a:moveTo>
                    <a:pt x="524020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524020" y="172012"/>
                  </a:lnTo>
                  <a:lnTo>
                    <a:pt x="530700" y="165332"/>
                  </a:lnTo>
                  <a:lnTo>
                    <a:pt x="530700" y="6680"/>
                  </a:lnTo>
                  <a:lnTo>
                    <a:pt x="52402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906231" y="1566031"/>
              <a:ext cx="530860" cy="172085"/>
            </a:xfrm>
            <a:custGeom>
              <a:avLst/>
              <a:gdLst/>
              <a:ahLst/>
              <a:cxnLst/>
              <a:rect l="l" t="t" r="r" b="b"/>
              <a:pathLst>
                <a:path w="530860" h="172085">
                  <a:moveTo>
                    <a:pt x="515779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57091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14921" y="172012"/>
                  </a:lnTo>
                  <a:lnTo>
                    <a:pt x="515779" y="172012"/>
                  </a:lnTo>
                  <a:lnTo>
                    <a:pt x="524020" y="172012"/>
                  </a:lnTo>
                  <a:lnTo>
                    <a:pt x="530700" y="165332"/>
                  </a:lnTo>
                  <a:lnTo>
                    <a:pt x="530700" y="157091"/>
                  </a:lnTo>
                  <a:lnTo>
                    <a:pt x="530700" y="14921"/>
                  </a:lnTo>
                  <a:lnTo>
                    <a:pt x="530700" y="6680"/>
                  </a:lnTo>
                  <a:lnTo>
                    <a:pt x="524020" y="0"/>
                  </a:lnTo>
                  <a:lnTo>
                    <a:pt x="515779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950262" y="1557478"/>
            <a:ext cx="443230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3299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Standard</a:t>
            </a:r>
            <a:r>
              <a:rPr dirty="0" sz="450" spc="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Scaler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(window-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based)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514334" y="1570317"/>
            <a:ext cx="537210" cy="163830"/>
            <a:chOff x="3514334" y="1570317"/>
            <a:chExt cx="537210" cy="163830"/>
          </a:xfrm>
        </p:grpSpPr>
        <p:sp>
          <p:nvSpPr>
            <p:cNvPr id="44" name="object 44"/>
            <p:cNvSpPr/>
            <p:nvPr/>
          </p:nvSpPr>
          <p:spPr>
            <a:xfrm>
              <a:off x="3517509" y="1573492"/>
              <a:ext cx="530860" cy="157480"/>
            </a:xfrm>
            <a:custGeom>
              <a:avLst/>
              <a:gdLst/>
              <a:ahLst/>
              <a:cxnLst/>
              <a:rect l="l" t="t" r="r" b="b"/>
              <a:pathLst>
                <a:path w="530860" h="157480">
                  <a:moveTo>
                    <a:pt x="524020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524020" y="157091"/>
                  </a:lnTo>
                  <a:lnTo>
                    <a:pt x="530700" y="150410"/>
                  </a:lnTo>
                  <a:lnTo>
                    <a:pt x="530700" y="6680"/>
                  </a:lnTo>
                  <a:lnTo>
                    <a:pt x="52402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517509" y="1573492"/>
              <a:ext cx="530860" cy="157480"/>
            </a:xfrm>
            <a:custGeom>
              <a:avLst/>
              <a:gdLst/>
              <a:ahLst/>
              <a:cxnLst/>
              <a:rect l="l" t="t" r="r" b="b"/>
              <a:pathLst>
                <a:path w="530860" h="157480">
                  <a:moveTo>
                    <a:pt x="515779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42169"/>
                  </a:lnTo>
                  <a:lnTo>
                    <a:pt x="0" y="150410"/>
                  </a:lnTo>
                  <a:lnTo>
                    <a:pt x="6680" y="157091"/>
                  </a:lnTo>
                  <a:lnTo>
                    <a:pt x="14921" y="157091"/>
                  </a:lnTo>
                  <a:lnTo>
                    <a:pt x="515779" y="157091"/>
                  </a:lnTo>
                  <a:lnTo>
                    <a:pt x="524020" y="157091"/>
                  </a:lnTo>
                  <a:lnTo>
                    <a:pt x="530700" y="150410"/>
                  </a:lnTo>
                  <a:lnTo>
                    <a:pt x="530700" y="142169"/>
                  </a:lnTo>
                  <a:lnTo>
                    <a:pt x="530700" y="14921"/>
                  </a:lnTo>
                  <a:lnTo>
                    <a:pt x="530700" y="6680"/>
                  </a:lnTo>
                  <a:lnTo>
                    <a:pt x="524020" y="0"/>
                  </a:lnTo>
                  <a:lnTo>
                    <a:pt x="515779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3561376" y="1564937"/>
            <a:ext cx="443230" cy="16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870" marR="5080" indent="-90805">
              <a:lnSpc>
                <a:spcPct val="103400"/>
              </a:lnSpc>
              <a:spcBef>
                <a:spcPts val="100"/>
              </a:spcBef>
            </a:pP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dirty="0" sz="450" spc="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11111"/>
                </a:solidFill>
                <a:latin typeface="Arial MT"/>
                <a:cs typeface="Arial MT"/>
              </a:rPr>
              <a:t>2</a:t>
            </a:r>
            <a:r>
              <a:rPr dirty="0" sz="450" spc="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111111"/>
                </a:solidFill>
                <a:latin typeface="Arial MT"/>
                <a:cs typeface="Arial MT"/>
              </a:rPr>
              <a:t>ONNX</a:t>
            </a:r>
            <a:r>
              <a:rPr dirty="0" sz="4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11111"/>
                </a:solidFill>
                <a:latin typeface="Arial MT"/>
                <a:cs typeface="Arial MT"/>
              </a:rPr>
              <a:t>Inference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126847" y="1556160"/>
            <a:ext cx="417830" cy="191770"/>
            <a:chOff x="4126847" y="1556160"/>
            <a:chExt cx="417830" cy="191770"/>
          </a:xfrm>
        </p:grpSpPr>
        <p:sp>
          <p:nvSpPr>
            <p:cNvPr id="48" name="object 48"/>
            <p:cNvSpPr/>
            <p:nvPr/>
          </p:nvSpPr>
          <p:spPr>
            <a:xfrm>
              <a:off x="4130022" y="1559335"/>
              <a:ext cx="411480" cy="185420"/>
            </a:xfrm>
            <a:custGeom>
              <a:avLst/>
              <a:gdLst/>
              <a:ahLst/>
              <a:cxnLst/>
              <a:rect l="l" t="t" r="r" b="b"/>
              <a:pathLst>
                <a:path w="411479" h="185419">
                  <a:moveTo>
                    <a:pt x="205429" y="0"/>
                  </a:moveTo>
                  <a:lnTo>
                    <a:pt x="0" y="92702"/>
                  </a:lnTo>
                  <a:lnTo>
                    <a:pt x="205429" y="185404"/>
                  </a:lnTo>
                  <a:lnTo>
                    <a:pt x="410858" y="92702"/>
                  </a:lnTo>
                  <a:lnTo>
                    <a:pt x="20542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130022" y="1559335"/>
              <a:ext cx="411480" cy="185420"/>
            </a:xfrm>
            <a:custGeom>
              <a:avLst/>
              <a:gdLst/>
              <a:ahLst/>
              <a:cxnLst/>
              <a:rect l="l" t="t" r="r" b="b"/>
              <a:pathLst>
                <a:path w="411479" h="185419">
                  <a:moveTo>
                    <a:pt x="410858" y="92702"/>
                  </a:moveTo>
                  <a:lnTo>
                    <a:pt x="205429" y="0"/>
                  </a:lnTo>
                  <a:lnTo>
                    <a:pt x="0" y="92702"/>
                  </a:lnTo>
                  <a:lnTo>
                    <a:pt x="205429" y="185404"/>
                  </a:lnTo>
                  <a:lnTo>
                    <a:pt x="410858" y="92702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4185940" y="1610113"/>
            <a:ext cx="299085" cy="7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">
                <a:solidFill>
                  <a:srgbClr val="111111"/>
                </a:solidFill>
                <a:latin typeface="Arial MT"/>
                <a:cs typeface="Arial MT"/>
              </a:rPr>
              <a:t>Threshold</a:t>
            </a:r>
            <a:r>
              <a:rPr dirty="0" sz="3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50" spc="-25">
                <a:solidFill>
                  <a:srgbClr val="111111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619518" y="1562856"/>
            <a:ext cx="539750" cy="178435"/>
            <a:chOff x="4619518" y="1562856"/>
            <a:chExt cx="539750" cy="178435"/>
          </a:xfrm>
        </p:grpSpPr>
        <p:sp>
          <p:nvSpPr>
            <p:cNvPr id="52" name="object 52"/>
            <p:cNvSpPr/>
            <p:nvPr/>
          </p:nvSpPr>
          <p:spPr>
            <a:xfrm>
              <a:off x="4622693" y="1566031"/>
              <a:ext cx="533400" cy="172085"/>
            </a:xfrm>
            <a:custGeom>
              <a:avLst/>
              <a:gdLst/>
              <a:ahLst/>
              <a:cxnLst/>
              <a:rect l="l" t="t" r="r" b="b"/>
              <a:pathLst>
                <a:path w="533400" h="172085">
                  <a:moveTo>
                    <a:pt x="526329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526329" y="172012"/>
                  </a:lnTo>
                  <a:lnTo>
                    <a:pt x="533010" y="165332"/>
                  </a:lnTo>
                  <a:lnTo>
                    <a:pt x="533010" y="6680"/>
                  </a:lnTo>
                  <a:lnTo>
                    <a:pt x="526329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622693" y="1566031"/>
              <a:ext cx="533400" cy="172085"/>
            </a:xfrm>
            <a:custGeom>
              <a:avLst/>
              <a:gdLst/>
              <a:ahLst/>
              <a:cxnLst/>
              <a:rect l="l" t="t" r="r" b="b"/>
              <a:pathLst>
                <a:path w="533400" h="172085">
                  <a:moveTo>
                    <a:pt x="518088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157091"/>
                  </a:lnTo>
                  <a:lnTo>
                    <a:pt x="0" y="165332"/>
                  </a:lnTo>
                  <a:lnTo>
                    <a:pt x="6680" y="172012"/>
                  </a:lnTo>
                  <a:lnTo>
                    <a:pt x="14921" y="172012"/>
                  </a:lnTo>
                  <a:lnTo>
                    <a:pt x="518088" y="172012"/>
                  </a:lnTo>
                  <a:lnTo>
                    <a:pt x="526329" y="172012"/>
                  </a:lnTo>
                  <a:lnTo>
                    <a:pt x="533010" y="165332"/>
                  </a:lnTo>
                  <a:lnTo>
                    <a:pt x="533010" y="157091"/>
                  </a:lnTo>
                  <a:lnTo>
                    <a:pt x="533010" y="14921"/>
                  </a:lnTo>
                  <a:lnTo>
                    <a:pt x="533010" y="6680"/>
                  </a:lnTo>
                  <a:lnTo>
                    <a:pt x="526329" y="0"/>
                  </a:lnTo>
                  <a:lnTo>
                    <a:pt x="518088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680859" y="1557478"/>
            <a:ext cx="417195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DISTRACTED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07804" y="1628351"/>
            <a:ext cx="363220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12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Arial MT"/>
                <a:cs typeface="Arial MT"/>
              </a:rPr>
              <a:t>FOCUSED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57782" y="886392"/>
            <a:ext cx="706755" cy="7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" spc="-20" b="1">
                <a:solidFill>
                  <a:srgbClr val="111111"/>
                </a:solidFill>
                <a:latin typeface="Arial"/>
                <a:cs typeface="Arial"/>
              </a:rPr>
              <a:t>Layer</a:t>
            </a:r>
            <a:r>
              <a:rPr dirty="0" sz="35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b="1">
                <a:solidFill>
                  <a:srgbClr val="111111"/>
                </a:solidFill>
                <a:latin typeface="Arial"/>
                <a:cs typeface="Arial"/>
              </a:rPr>
              <a:t>1:</a:t>
            </a:r>
            <a:r>
              <a:rPr dirty="0" sz="350" spc="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spc="-10" b="1">
                <a:solidFill>
                  <a:srgbClr val="111111"/>
                </a:solidFill>
                <a:latin typeface="Arial"/>
                <a:cs typeface="Arial"/>
              </a:rPr>
              <a:t>Activity</a:t>
            </a:r>
            <a:r>
              <a:rPr dirty="0" sz="350" spc="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b="1">
                <a:solidFill>
                  <a:srgbClr val="111111"/>
                </a:solidFill>
                <a:latin typeface="Arial"/>
                <a:cs typeface="Arial"/>
              </a:rPr>
              <a:t>&amp;</a:t>
            </a:r>
            <a:r>
              <a:rPr dirty="0" sz="350" spc="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spc="-20" b="1">
                <a:solidFill>
                  <a:srgbClr val="111111"/>
                </a:solidFill>
                <a:latin typeface="Arial"/>
                <a:cs typeface="Arial"/>
              </a:rPr>
              <a:t>Stress</a:t>
            </a:r>
            <a:r>
              <a:rPr dirty="0" sz="35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spc="-1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endParaRPr sz="3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08331" y="1765750"/>
            <a:ext cx="581660" cy="7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" spc="-20" b="1">
                <a:solidFill>
                  <a:srgbClr val="111111"/>
                </a:solidFill>
                <a:latin typeface="Arial"/>
                <a:cs typeface="Arial"/>
              </a:rPr>
              <a:t>Layer</a:t>
            </a:r>
            <a:r>
              <a:rPr dirty="0" sz="35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b="1">
                <a:solidFill>
                  <a:srgbClr val="111111"/>
                </a:solidFill>
                <a:latin typeface="Arial"/>
                <a:cs typeface="Arial"/>
              </a:rPr>
              <a:t>2:</a:t>
            </a:r>
            <a:r>
              <a:rPr dirty="0" sz="350" spc="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spc="-10" b="1">
                <a:solidFill>
                  <a:srgbClr val="111111"/>
                </a:solidFill>
                <a:latin typeface="Arial"/>
                <a:cs typeface="Arial"/>
              </a:rPr>
              <a:t>Distraction</a:t>
            </a:r>
            <a:r>
              <a:rPr dirty="0" sz="35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50" spc="-1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733544" y="1248655"/>
            <a:ext cx="666750" cy="255270"/>
            <a:chOff x="4733544" y="1248655"/>
            <a:chExt cx="666750" cy="255270"/>
          </a:xfrm>
        </p:grpSpPr>
        <p:sp>
          <p:nvSpPr>
            <p:cNvPr id="59" name="object 59"/>
            <p:cNvSpPr/>
            <p:nvPr/>
          </p:nvSpPr>
          <p:spPr>
            <a:xfrm>
              <a:off x="4736719" y="1251830"/>
              <a:ext cx="660400" cy="248920"/>
            </a:xfrm>
            <a:custGeom>
              <a:avLst/>
              <a:gdLst/>
              <a:ahLst/>
              <a:cxnLst/>
              <a:rect l="l" t="t" r="r" b="b"/>
              <a:pathLst>
                <a:path w="660400" h="248919">
                  <a:moveTo>
                    <a:pt x="653695" y="0"/>
                  </a:moveTo>
                  <a:lnTo>
                    <a:pt x="6680" y="0"/>
                  </a:lnTo>
                  <a:lnTo>
                    <a:pt x="0" y="6680"/>
                  </a:lnTo>
                  <a:lnTo>
                    <a:pt x="0" y="241805"/>
                  </a:lnTo>
                  <a:lnTo>
                    <a:pt x="6680" y="248485"/>
                  </a:lnTo>
                  <a:lnTo>
                    <a:pt x="653695" y="248485"/>
                  </a:lnTo>
                  <a:lnTo>
                    <a:pt x="660376" y="241805"/>
                  </a:lnTo>
                  <a:lnTo>
                    <a:pt x="660376" y="6680"/>
                  </a:lnTo>
                  <a:lnTo>
                    <a:pt x="653695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736719" y="1251830"/>
              <a:ext cx="660400" cy="248920"/>
            </a:xfrm>
            <a:custGeom>
              <a:avLst/>
              <a:gdLst/>
              <a:ahLst/>
              <a:cxnLst/>
              <a:rect l="l" t="t" r="r" b="b"/>
              <a:pathLst>
                <a:path w="660400" h="248919">
                  <a:moveTo>
                    <a:pt x="645454" y="0"/>
                  </a:moveTo>
                  <a:lnTo>
                    <a:pt x="14921" y="0"/>
                  </a:lnTo>
                  <a:lnTo>
                    <a:pt x="6680" y="0"/>
                  </a:lnTo>
                  <a:lnTo>
                    <a:pt x="0" y="6680"/>
                  </a:lnTo>
                  <a:lnTo>
                    <a:pt x="0" y="14921"/>
                  </a:lnTo>
                  <a:lnTo>
                    <a:pt x="0" y="233564"/>
                  </a:lnTo>
                  <a:lnTo>
                    <a:pt x="0" y="241805"/>
                  </a:lnTo>
                  <a:lnTo>
                    <a:pt x="6680" y="248485"/>
                  </a:lnTo>
                  <a:lnTo>
                    <a:pt x="14921" y="248485"/>
                  </a:lnTo>
                  <a:lnTo>
                    <a:pt x="645454" y="248485"/>
                  </a:lnTo>
                  <a:lnTo>
                    <a:pt x="653695" y="248485"/>
                  </a:lnTo>
                  <a:lnTo>
                    <a:pt x="660376" y="241805"/>
                  </a:lnTo>
                  <a:lnTo>
                    <a:pt x="660376" y="233564"/>
                  </a:lnTo>
                  <a:lnTo>
                    <a:pt x="660376" y="14921"/>
                  </a:lnTo>
                  <a:lnTo>
                    <a:pt x="660376" y="6680"/>
                  </a:lnTo>
                  <a:lnTo>
                    <a:pt x="653695" y="0"/>
                  </a:lnTo>
                  <a:lnTo>
                    <a:pt x="645454" y="0"/>
                  </a:lnTo>
                  <a:close/>
                </a:path>
              </a:pathLst>
            </a:custGeom>
            <a:ln w="5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889239" y="1243276"/>
            <a:ext cx="355600" cy="1771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20"/>
              </a:spcBef>
            </a:pPr>
            <a:r>
              <a:rPr dirty="0" sz="450" b="1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dirty="0" sz="45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" spc="-25" b="1">
                <a:solidFill>
                  <a:srgbClr val="FFFFFF"/>
                </a:solidFill>
                <a:latin typeface="Arial"/>
                <a:cs typeface="Arial"/>
              </a:rPr>
              <a:t>CSV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predictions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906988" y="1385034"/>
            <a:ext cx="320040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appended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59671" y="1086398"/>
            <a:ext cx="4269740" cy="579755"/>
            <a:chOff x="959671" y="1086398"/>
            <a:chExt cx="4269740" cy="579755"/>
          </a:xfrm>
        </p:grpSpPr>
        <p:sp>
          <p:nvSpPr>
            <p:cNvPr id="64" name="object 64"/>
            <p:cNvSpPr/>
            <p:nvPr/>
          </p:nvSpPr>
          <p:spPr>
            <a:xfrm>
              <a:off x="962655" y="1100108"/>
              <a:ext cx="65405" cy="276225"/>
            </a:xfrm>
            <a:custGeom>
              <a:avLst/>
              <a:gdLst/>
              <a:ahLst/>
              <a:cxnLst/>
              <a:rect l="l" t="t" r="r" b="b"/>
              <a:pathLst>
                <a:path w="65405" h="276225">
                  <a:moveTo>
                    <a:pt x="0" y="275964"/>
                  </a:moveTo>
                  <a:lnTo>
                    <a:pt x="52225" y="275964"/>
                  </a:lnTo>
                  <a:lnTo>
                    <a:pt x="52225" y="0"/>
                  </a:lnTo>
                  <a:lnTo>
                    <a:pt x="64979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027634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027634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62655" y="1376073"/>
              <a:ext cx="65405" cy="276225"/>
            </a:xfrm>
            <a:custGeom>
              <a:avLst/>
              <a:gdLst/>
              <a:ahLst/>
              <a:cxnLst/>
              <a:rect l="l" t="t" r="r" b="b"/>
              <a:pathLst>
                <a:path w="65405" h="276225">
                  <a:moveTo>
                    <a:pt x="0" y="0"/>
                  </a:moveTo>
                  <a:lnTo>
                    <a:pt x="52225" y="0"/>
                  </a:lnTo>
                  <a:lnTo>
                    <a:pt x="52225" y="275964"/>
                  </a:lnTo>
                  <a:lnTo>
                    <a:pt x="64979" y="275964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027634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027634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27311" y="1100108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6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662447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62447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238588" y="1100108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6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273724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273724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849865" y="1100108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2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884998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884998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90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362923" y="1100108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5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398058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398058" y="108938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03775" y="1652037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6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38912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38912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215052" y="1652037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6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250189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250189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828639" y="1652037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6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863776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863776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5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439916" y="1652037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6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3475053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475053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051194" y="1652037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34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086328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086328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545108" y="1652037"/>
              <a:ext cx="35560" cy="0"/>
            </a:xfrm>
            <a:custGeom>
              <a:avLst/>
              <a:gdLst/>
              <a:ahLst/>
              <a:cxnLst/>
              <a:rect l="l" t="t" r="r" b="b"/>
              <a:pathLst>
                <a:path w="35560" h="0">
                  <a:moveTo>
                    <a:pt x="0" y="0"/>
                  </a:moveTo>
                  <a:lnTo>
                    <a:pt x="35129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580237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580237" y="1641312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040193" y="1100108"/>
              <a:ext cx="654685" cy="276225"/>
            </a:xfrm>
            <a:custGeom>
              <a:avLst/>
              <a:gdLst/>
              <a:ahLst/>
              <a:cxnLst/>
              <a:rect l="l" t="t" r="r" b="b"/>
              <a:pathLst>
                <a:path w="654685" h="276225">
                  <a:moveTo>
                    <a:pt x="0" y="0"/>
                  </a:moveTo>
                  <a:lnTo>
                    <a:pt x="67147" y="0"/>
                  </a:lnTo>
                  <a:lnTo>
                    <a:pt x="67147" y="275964"/>
                  </a:lnTo>
                  <a:lnTo>
                    <a:pt x="654069" y="275964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694263" y="1365347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0" y="0"/>
                  </a:move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4694263" y="1365347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27167" y="10725"/>
                  </a:moveTo>
                  <a:lnTo>
                    <a:pt x="22803" y="9421"/>
                  </a:lnTo>
                  <a:lnTo>
                    <a:pt x="15769" y="6981"/>
                  </a:lnTo>
                  <a:lnTo>
                    <a:pt x="7642" y="3732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7642" y="17717"/>
                  </a:lnTo>
                  <a:lnTo>
                    <a:pt x="15769" y="14468"/>
                  </a:lnTo>
                  <a:lnTo>
                    <a:pt x="22803" y="12028"/>
                  </a:lnTo>
                  <a:lnTo>
                    <a:pt x="27167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773206" y="1376073"/>
              <a:ext cx="452755" cy="276225"/>
            </a:xfrm>
            <a:custGeom>
              <a:avLst/>
              <a:gdLst/>
              <a:ahLst/>
              <a:cxnLst/>
              <a:rect l="l" t="t" r="r" b="b"/>
              <a:pathLst>
                <a:path w="452754" h="276225">
                  <a:moveTo>
                    <a:pt x="385481" y="275964"/>
                  </a:moveTo>
                  <a:lnTo>
                    <a:pt x="452628" y="275964"/>
                  </a:lnTo>
                  <a:lnTo>
                    <a:pt x="452628" y="0"/>
                  </a:lnTo>
                  <a:lnTo>
                    <a:pt x="0" y="0"/>
                  </a:lnTo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746039" y="1365347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27167" y="21450"/>
                  </a:moveTo>
                  <a:lnTo>
                    <a:pt x="27167" y="0"/>
                  </a:lnTo>
                  <a:lnTo>
                    <a:pt x="19524" y="3732"/>
                  </a:lnTo>
                  <a:lnTo>
                    <a:pt x="11397" y="6981"/>
                  </a:lnTo>
                  <a:lnTo>
                    <a:pt x="4363" y="9421"/>
                  </a:lnTo>
                  <a:lnTo>
                    <a:pt x="0" y="10725"/>
                  </a:lnTo>
                  <a:lnTo>
                    <a:pt x="4363" y="12028"/>
                  </a:lnTo>
                  <a:lnTo>
                    <a:pt x="11397" y="14468"/>
                  </a:lnTo>
                  <a:lnTo>
                    <a:pt x="19524" y="17717"/>
                  </a:lnTo>
                  <a:lnTo>
                    <a:pt x="27167" y="21450"/>
                  </a:lnTo>
                  <a:close/>
                </a:path>
              </a:pathLst>
            </a:custGeom>
            <a:solidFill>
              <a:srgbClr val="11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4746039" y="1365347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0" y="10725"/>
                  </a:moveTo>
                  <a:lnTo>
                    <a:pt x="4363" y="12028"/>
                  </a:lnTo>
                  <a:lnTo>
                    <a:pt x="11397" y="14468"/>
                  </a:lnTo>
                  <a:lnTo>
                    <a:pt x="19524" y="17717"/>
                  </a:lnTo>
                  <a:lnTo>
                    <a:pt x="27167" y="21450"/>
                  </a:lnTo>
                  <a:lnTo>
                    <a:pt x="27167" y="0"/>
                  </a:lnTo>
                  <a:lnTo>
                    <a:pt x="19524" y="3732"/>
                  </a:lnTo>
                  <a:lnTo>
                    <a:pt x="11397" y="6981"/>
                  </a:lnTo>
                  <a:lnTo>
                    <a:pt x="4363" y="9421"/>
                  </a:lnTo>
                  <a:lnTo>
                    <a:pt x="0" y="10725"/>
                  </a:lnTo>
                  <a:close/>
                </a:path>
              </a:pathLst>
            </a:custGeom>
            <a:ln w="596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/>
          <p:cNvSpPr/>
          <p:nvPr/>
        </p:nvSpPr>
        <p:spPr>
          <a:xfrm>
            <a:off x="2036127" y="2109673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 h="0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1111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481922" y="2109673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 h="0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1111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26161" y="2198242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1111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347294" y="1935027"/>
            <a:ext cx="2445385" cy="382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600" spc="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600" spc="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111111"/>
                </a:solidFill>
                <a:latin typeface="Arial"/>
                <a:cs typeface="Arial"/>
              </a:rPr>
              <a:t>inputs</a:t>
            </a:r>
            <a:r>
              <a:rPr dirty="0" sz="600" spc="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(13</a:t>
            </a:r>
            <a:r>
              <a:rPr dirty="0" sz="600" spc="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111111"/>
                </a:solidFill>
                <a:latin typeface="Arial"/>
                <a:cs typeface="Arial"/>
              </a:rPr>
              <a:t>features,</a:t>
            </a:r>
            <a:r>
              <a:rPr dirty="0" sz="600" spc="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per</a:t>
            </a:r>
            <a:r>
              <a:rPr dirty="0" sz="600" spc="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row):</a:t>
            </a:r>
            <a:r>
              <a:rPr dirty="0" sz="600" spc="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raw</a:t>
            </a:r>
            <a:r>
              <a:rPr dirty="0" sz="6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Heart</a:t>
            </a:r>
            <a:r>
              <a:rPr dirty="0" sz="6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Rate,</a:t>
            </a:r>
            <a:r>
              <a:rPr dirty="0" sz="600" spc="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Accelerometer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(X,</a:t>
            </a:r>
            <a:r>
              <a:rPr dirty="0" sz="600" spc="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Y,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Z),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Gyroscope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(X,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Y,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Z),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Arial MT"/>
                <a:cs typeface="Arial MT"/>
              </a:rPr>
              <a:t>GPS-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derived</a:t>
            </a:r>
            <a:r>
              <a:rPr dirty="0" sz="600" spc="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105">
                <a:solidFill>
                  <a:srgbClr val="111111"/>
                </a:solidFill>
                <a:latin typeface="Calibri"/>
                <a:cs typeface="Calibri"/>
              </a:rPr>
              <a:t>lat</a:t>
            </a:r>
            <a:r>
              <a:rPr dirty="0" sz="600" spc="1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600" spc="65">
                <a:solidFill>
                  <a:srgbClr val="111111"/>
                </a:solidFill>
                <a:latin typeface="Calibri"/>
                <a:cs typeface="Calibri"/>
              </a:rPr>
              <a:t>delta</a:t>
            </a:r>
            <a:r>
              <a:rPr dirty="0" sz="600" spc="11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600" spc="150">
                <a:solidFill>
                  <a:srgbClr val="111111"/>
                </a:solidFill>
                <a:latin typeface="Arial MT"/>
                <a:cs typeface="Arial MT"/>
              </a:rPr>
              <a:t>/</a:t>
            </a:r>
            <a:r>
              <a:rPr dirty="0" sz="6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60">
                <a:solidFill>
                  <a:srgbClr val="111111"/>
                </a:solidFill>
                <a:latin typeface="Calibri"/>
                <a:cs typeface="Calibri"/>
              </a:rPr>
              <a:t>lon</a:t>
            </a:r>
            <a:r>
              <a:rPr dirty="0" sz="600" spc="1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600" spc="45">
                <a:solidFill>
                  <a:srgbClr val="111111"/>
                </a:solidFill>
                <a:latin typeface="Calibri"/>
                <a:cs typeface="Calibri"/>
              </a:rPr>
              <a:t>delta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, </a:t>
            </a:r>
            <a:r>
              <a:rPr dirty="0" sz="600">
                <a:solidFill>
                  <a:srgbClr val="111111"/>
                </a:solidFill>
                <a:latin typeface="Calibri"/>
                <a:cs typeface="Calibri"/>
              </a:rPr>
              <a:t>time</a:t>
            </a:r>
            <a:r>
              <a:rPr dirty="0" sz="600" spc="9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600" spc="55">
                <a:solidFill>
                  <a:srgbClr val="111111"/>
                </a:solidFill>
                <a:latin typeface="Calibri"/>
                <a:cs typeface="Calibri"/>
              </a:rPr>
              <a:t>delta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,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related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instantaneous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motion</a:t>
            </a:r>
            <a:r>
              <a:rPr dirty="0" sz="600" spc="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values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—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scaled</a:t>
            </a:r>
            <a:r>
              <a:rPr dirty="0" sz="600" spc="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passed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directly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ONNX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Arial MT"/>
                <a:cs typeface="Arial MT"/>
              </a:rPr>
              <a:t>3-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class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argmax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decision.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968117" y="1935027"/>
            <a:ext cx="2428240" cy="471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600" spc="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dirty="0" sz="600" spc="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111111"/>
                </a:solidFill>
                <a:latin typeface="Arial"/>
                <a:cs typeface="Arial"/>
              </a:rPr>
              <a:t>inputs</a:t>
            </a:r>
            <a:r>
              <a:rPr dirty="0" sz="60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(7</a:t>
            </a:r>
            <a:r>
              <a:rPr dirty="0" sz="600" spc="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111111"/>
                </a:solidFill>
                <a:latin typeface="Arial"/>
                <a:cs typeface="Arial"/>
              </a:rPr>
              <a:t>features,</a:t>
            </a:r>
            <a:r>
              <a:rPr dirty="0" sz="600" spc="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per</a:t>
            </a:r>
            <a:r>
              <a:rPr dirty="0" sz="60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111111"/>
                </a:solidFill>
                <a:latin typeface="Arial"/>
                <a:cs typeface="Arial"/>
              </a:rPr>
              <a:t>60-</a:t>
            </a:r>
            <a:r>
              <a:rPr dirty="0" sz="600" b="1">
                <a:solidFill>
                  <a:srgbClr val="111111"/>
                </a:solidFill>
                <a:latin typeface="Arial"/>
                <a:cs typeface="Arial"/>
              </a:rPr>
              <a:t>row</a:t>
            </a:r>
            <a:r>
              <a:rPr dirty="0" sz="600" spc="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111111"/>
                </a:solidFill>
                <a:latin typeface="Arial"/>
                <a:cs typeface="Arial"/>
              </a:rPr>
              <a:t>window):</a:t>
            </a:r>
            <a:r>
              <a:rPr dirty="0" sz="600" spc="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acceleration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magnitude</a:t>
            </a:r>
            <a:r>
              <a:rPr dirty="0" sz="6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variance,</a:t>
            </a:r>
            <a:r>
              <a:rPr dirty="0" sz="6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gyroscope</a:t>
            </a:r>
            <a:r>
              <a:rPr dirty="0" sz="6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magnitude</a:t>
            </a:r>
            <a:r>
              <a:rPr dirty="0" sz="6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variance,</a:t>
            </a:r>
            <a:r>
              <a:rPr dirty="0" sz="6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movement</a:t>
            </a:r>
            <a:r>
              <a:rPr dirty="0" sz="6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entropy,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micro-motion</a:t>
            </a:r>
            <a:r>
              <a:rPr dirty="0" sz="6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frequency,</a:t>
            </a:r>
            <a:r>
              <a:rPr dirty="0" sz="6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heart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rate</a:t>
            </a:r>
            <a:r>
              <a:rPr dirty="0" sz="6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variance,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heart</a:t>
            </a:r>
            <a:r>
              <a:rPr dirty="0" sz="6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rate</a:t>
            </a:r>
            <a:r>
              <a:rPr dirty="0" sz="6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trend/slope,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average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Arial MT"/>
                <a:cs typeface="Arial MT"/>
              </a:rPr>
              <a:t>speed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(from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positional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delta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111111"/>
                </a:solidFill>
                <a:latin typeface="Arial MT"/>
                <a:cs typeface="Arial MT"/>
              </a:rPr>
              <a:t>/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time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delta)</a:t>
            </a:r>
            <a:r>
              <a:rPr dirty="0" sz="6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—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aggregated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per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window,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scaled,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then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passed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ONNX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probability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score.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36423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Live</a:t>
            </a:r>
            <a:r>
              <a:rPr dirty="0" sz="12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dirty="0" sz="12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5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2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2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Biometric</a:t>
            </a:r>
            <a:r>
              <a:rPr dirty="0" sz="12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Monitoring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606" y="529426"/>
            <a:ext cx="4636649" cy="2397313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41338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Live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5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2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Extended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r>
              <a:rPr dirty="0" sz="12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25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2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606" y="455870"/>
            <a:ext cx="4636373" cy="2581410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459105"/>
          </a:xfrm>
          <a:custGeom>
            <a:avLst/>
            <a:gdLst/>
            <a:ahLst/>
            <a:cxnLst/>
            <a:rect l="l" t="t" r="r" b="b"/>
            <a:pathLst>
              <a:path w="5760085" h="459105">
                <a:moveTo>
                  <a:pt x="5759996" y="0"/>
                </a:moveTo>
                <a:lnTo>
                  <a:pt x="0" y="0"/>
                </a:lnTo>
                <a:lnTo>
                  <a:pt x="0" y="458927"/>
                </a:lnTo>
                <a:lnTo>
                  <a:pt x="5759996" y="458927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1013"/>
            <a:ext cx="3680460" cy="365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AI-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dirty="0" sz="12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5" b="1">
                <a:solidFill>
                  <a:srgbClr val="FFFFFF"/>
                </a:solidFill>
                <a:latin typeface="Arial"/>
                <a:cs typeface="Arial"/>
              </a:rPr>
              <a:t>Recommendations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105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2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dirty="0" sz="12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Outputs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Status:</a:t>
            </a:r>
            <a:r>
              <a:rPr dirty="0" sz="1000" spc="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Normal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730195"/>
            <a:ext cx="4636431" cy="8965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294" y="1760809"/>
            <a:ext cx="977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111111"/>
                </a:solidFill>
                <a:latin typeface="Arial"/>
                <a:cs typeface="Arial"/>
              </a:rPr>
              <a:t>Status:</a:t>
            </a:r>
            <a:r>
              <a:rPr dirty="0" sz="1000" spc="10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spc="-30" b="1">
                <a:solidFill>
                  <a:srgbClr val="111111"/>
                </a:solidFill>
                <a:latin typeface="Arial"/>
                <a:cs typeface="Arial"/>
              </a:rPr>
              <a:t>Warning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994" y="1962607"/>
            <a:ext cx="4636724" cy="928801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</a:t>
            </a:r>
            <a:r>
              <a:rPr dirty="0" spc="85"/>
              <a:t> </a:t>
            </a:r>
            <a:r>
              <a:rPr dirty="0"/>
              <a:t>Team</a:t>
            </a:r>
            <a:r>
              <a:rPr dirty="0" spc="85"/>
              <a:t> </a:t>
            </a:r>
            <a:r>
              <a:rPr dirty="0" spc="-45"/>
              <a:t>Deliverables</a:t>
            </a:r>
          </a:p>
        </p:txBody>
      </p:sp>
      <p:sp>
        <p:nvSpPr>
          <p:cNvPr id="3" name="object 3"/>
          <p:cNvSpPr/>
          <p:nvPr/>
        </p:nvSpPr>
        <p:spPr>
          <a:xfrm>
            <a:off x="1722083" y="568767"/>
            <a:ext cx="2315845" cy="166370"/>
          </a:xfrm>
          <a:custGeom>
            <a:avLst/>
            <a:gdLst/>
            <a:ahLst/>
            <a:cxnLst/>
            <a:rect l="l" t="t" r="r" b="b"/>
            <a:pathLst>
              <a:path w="2315845" h="166370">
                <a:moveTo>
                  <a:pt x="2277883" y="0"/>
                </a:moveTo>
                <a:lnTo>
                  <a:pt x="37958" y="0"/>
                </a:lnTo>
                <a:lnTo>
                  <a:pt x="23183" y="2982"/>
                </a:lnTo>
                <a:lnTo>
                  <a:pt x="11117" y="11117"/>
                </a:lnTo>
                <a:lnTo>
                  <a:pt x="2982" y="23182"/>
                </a:lnTo>
                <a:lnTo>
                  <a:pt x="0" y="37958"/>
                </a:lnTo>
                <a:lnTo>
                  <a:pt x="0" y="127932"/>
                </a:lnTo>
                <a:lnTo>
                  <a:pt x="2982" y="142707"/>
                </a:lnTo>
                <a:lnTo>
                  <a:pt x="11117" y="154773"/>
                </a:lnTo>
                <a:lnTo>
                  <a:pt x="23183" y="162908"/>
                </a:lnTo>
                <a:lnTo>
                  <a:pt x="37958" y="165890"/>
                </a:lnTo>
                <a:lnTo>
                  <a:pt x="2277883" y="165890"/>
                </a:lnTo>
                <a:lnTo>
                  <a:pt x="2292658" y="162908"/>
                </a:lnTo>
                <a:lnTo>
                  <a:pt x="2304724" y="154773"/>
                </a:lnTo>
                <a:lnTo>
                  <a:pt x="2312858" y="142707"/>
                </a:lnTo>
                <a:lnTo>
                  <a:pt x="2315841" y="127932"/>
                </a:lnTo>
                <a:lnTo>
                  <a:pt x="2315841" y="37958"/>
                </a:lnTo>
                <a:lnTo>
                  <a:pt x="2312858" y="23182"/>
                </a:lnTo>
                <a:lnTo>
                  <a:pt x="2304724" y="11117"/>
                </a:lnTo>
                <a:lnTo>
                  <a:pt x="2292658" y="2982"/>
                </a:lnTo>
                <a:lnTo>
                  <a:pt x="2277883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85315" y="563103"/>
            <a:ext cx="21888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95"/>
              </a:spcBef>
              <a:buFont typeface="MingLiU_HKSCS-ExtB"/>
              <a:buChar char="✓"/>
              <a:tabLst>
                <a:tab pos="164465" algn="l"/>
              </a:tabLst>
            </a:pPr>
            <a:r>
              <a:rPr dirty="0" sz="800" spc="-30" b="1">
                <a:solidFill>
                  <a:srgbClr val="212121"/>
                </a:solidFill>
                <a:latin typeface="Arial"/>
                <a:cs typeface="Arial"/>
              </a:rPr>
              <a:t>AI-</a:t>
            </a:r>
            <a:r>
              <a:rPr dirty="0" sz="800" b="1">
                <a:solidFill>
                  <a:srgbClr val="212121"/>
                </a:solidFill>
                <a:latin typeface="Arial"/>
                <a:cs typeface="Arial"/>
              </a:rPr>
              <a:t>side</a:t>
            </a:r>
            <a:r>
              <a:rPr dirty="0" sz="800" spc="45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800" spc="-30" b="1">
                <a:solidFill>
                  <a:srgbClr val="212121"/>
                </a:solidFill>
                <a:latin typeface="Arial"/>
                <a:cs typeface="Arial"/>
              </a:rPr>
              <a:t>development</a:t>
            </a:r>
            <a:r>
              <a:rPr dirty="0" sz="800" spc="40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800" spc="-35" b="1">
                <a:solidFill>
                  <a:srgbClr val="212121"/>
                </a:solidFill>
                <a:latin typeface="Arial"/>
                <a:cs typeface="Arial"/>
              </a:rPr>
              <a:t>substantially</a:t>
            </a:r>
            <a:r>
              <a:rPr dirty="0" sz="800" spc="45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212121"/>
                </a:solidFill>
                <a:latin typeface="Arial"/>
                <a:cs typeface="Arial"/>
              </a:rPr>
              <a:t>complete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034" y="1171168"/>
            <a:ext cx="1654810" cy="196215"/>
          </a:xfrm>
          <a:prstGeom prst="rect">
            <a:avLst/>
          </a:prstGeom>
          <a:solidFill>
            <a:srgbClr val="262626"/>
          </a:solidFill>
        </p:spPr>
        <p:txBody>
          <a:bodyPr wrap="square" lIns="0" tIns="0" rIns="0" bIns="0" rtlCol="0" vert="horz">
            <a:spAutoFit/>
          </a:bodyPr>
          <a:lstStyle/>
          <a:p>
            <a:pPr marL="45720">
              <a:lnSpc>
                <a:spcPts val="1435"/>
              </a:lnSpc>
            </a:pPr>
            <a:r>
              <a:rPr dirty="0" sz="1200">
                <a:solidFill>
                  <a:srgbClr val="444444"/>
                </a:solidFill>
                <a:latin typeface="Tahoma"/>
                <a:cs typeface="Tahoma"/>
              </a:rPr>
              <a:t>01</a:t>
            </a:r>
            <a:r>
              <a:rPr dirty="0" sz="1200" spc="254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LLM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2034" y="1367078"/>
            <a:ext cx="1654810" cy="1731010"/>
            <a:chOff x="222034" y="1367078"/>
            <a:chExt cx="1654810" cy="1731010"/>
          </a:xfrm>
        </p:grpSpPr>
        <p:sp>
          <p:nvSpPr>
            <p:cNvPr id="7" name="object 7"/>
            <p:cNvSpPr/>
            <p:nvPr/>
          </p:nvSpPr>
          <p:spPr>
            <a:xfrm>
              <a:off x="222034" y="1367078"/>
              <a:ext cx="1654810" cy="1731010"/>
            </a:xfrm>
            <a:custGeom>
              <a:avLst/>
              <a:gdLst/>
              <a:ahLst/>
              <a:cxnLst/>
              <a:rect l="l" t="t" r="r" b="b"/>
              <a:pathLst>
                <a:path w="1654810" h="1731010">
                  <a:moveTo>
                    <a:pt x="1654746" y="0"/>
                  </a:moveTo>
                  <a:lnTo>
                    <a:pt x="0" y="0"/>
                  </a:lnTo>
                  <a:lnTo>
                    <a:pt x="0" y="1730844"/>
                  </a:lnTo>
                  <a:lnTo>
                    <a:pt x="1654746" y="1730844"/>
                  </a:lnTo>
                  <a:lnTo>
                    <a:pt x="165474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8208" y="2905540"/>
              <a:ext cx="1116965" cy="146685"/>
            </a:xfrm>
            <a:custGeom>
              <a:avLst/>
              <a:gdLst/>
              <a:ahLst/>
              <a:cxnLst/>
              <a:rect l="l" t="t" r="r" b="b"/>
              <a:pathLst>
                <a:path w="1116965" h="146685">
                  <a:moveTo>
                    <a:pt x="10788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08250"/>
                  </a:lnTo>
                  <a:lnTo>
                    <a:pt x="2982" y="123025"/>
                  </a:lnTo>
                  <a:lnTo>
                    <a:pt x="11117" y="135091"/>
                  </a:lnTo>
                  <a:lnTo>
                    <a:pt x="23182" y="143226"/>
                  </a:lnTo>
                  <a:lnTo>
                    <a:pt x="37958" y="146209"/>
                  </a:lnTo>
                  <a:lnTo>
                    <a:pt x="1078860" y="146209"/>
                  </a:lnTo>
                  <a:lnTo>
                    <a:pt x="1093635" y="143226"/>
                  </a:lnTo>
                  <a:lnTo>
                    <a:pt x="1105700" y="135091"/>
                  </a:lnTo>
                  <a:lnTo>
                    <a:pt x="1113835" y="123025"/>
                  </a:lnTo>
                  <a:lnTo>
                    <a:pt x="1116818" y="108250"/>
                  </a:lnTo>
                  <a:lnTo>
                    <a:pt x="1116818" y="37958"/>
                  </a:lnTo>
                  <a:lnTo>
                    <a:pt x="1113835" y="23183"/>
                  </a:lnTo>
                  <a:lnTo>
                    <a:pt x="1105700" y="11117"/>
                  </a:lnTo>
                  <a:lnTo>
                    <a:pt x="1093635" y="2982"/>
                  </a:lnTo>
                  <a:lnTo>
                    <a:pt x="107886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22034" y="1367078"/>
            <a:ext cx="1654810" cy="173101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21945" marR="233679" indent="-131445">
              <a:lnSpc>
                <a:spcPct val="100000"/>
              </a:lnSpc>
              <a:spcBef>
                <a:spcPts val="495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20">
                <a:latin typeface="Tahoma"/>
                <a:cs typeface="Tahoma"/>
              </a:rPr>
              <a:t>Visualisation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module </a:t>
            </a:r>
            <a:r>
              <a:rPr dirty="0" sz="1000" spc="-40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complete</a:t>
            </a:r>
            <a:endParaRPr sz="1000">
              <a:latin typeface="Tahoma"/>
              <a:cs typeface="Tahoma"/>
            </a:endParaRPr>
          </a:p>
          <a:p>
            <a:pPr marL="321945" marR="160655" indent="-131445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50">
                <a:latin typeface="Tahoma"/>
                <a:cs typeface="Tahoma"/>
              </a:rPr>
              <a:t>LLM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recommendation </a:t>
            </a:r>
            <a:r>
              <a:rPr dirty="0" sz="1000" spc="-45">
                <a:latin typeface="Tahoma"/>
                <a:cs typeface="Tahoma"/>
              </a:rPr>
              <a:t>	</a:t>
            </a:r>
            <a:r>
              <a:rPr dirty="0" sz="1000" spc="-55">
                <a:latin typeface="Tahoma"/>
                <a:cs typeface="Tahoma"/>
              </a:rPr>
              <a:t>engine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ready</a:t>
            </a:r>
            <a:endParaRPr sz="1000">
              <a:latin typeface="Tahoma"/>
              <a:cs typeface="Tahoma"/>
            </a:endParaRPr>
          </a:p>
          <a:p>
            <a:pPr marL="321945" marR="156210" indent="-131445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30">
                <a:latin typeface="Tahoma"/>
                <a:cs typeface="Tahoma"/>
              </a:rPr>
              <a:t>Components </a:t>
            </a:r>
            <a:r>
              <a:rPr dirty="0" sz="1000" spc="-40">
                <a:latin typeface="Tahoma"/>
                <a:cs typeface="Tahoma"/>
              </a:rPr>
              <a:t>ready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for </a:t>
            </a:r>
            <a:r>
              <a:rPr dirty="0" sz="1000" spc="-35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integration</a:t>
            </a:r>
            <a:endParaRPr sz="1000">
              <a:latin typeface="Tahoma"/>
              <a:cs typeface="Tahoma"/>
            </a:endParaRPr>
          </a:p>
          <a:p>
            <a:pPr marL="321945" marR="96520" indent="-131445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>
                <a:latin typeface="Tahoma"/>
                <a:cs typeface="Tahoma"/>
              </a:rPr>
              <a:t>Env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deployment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files </a:t>
            </a:r>
            <a:r>
              <a:rPr dirty="0" sz="1000" spc="-30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shared</a:t>
            </a:r>
            <a:endParaRPr sz="1000">
              <a:latin typeface="Tahoma"/>
              <a:cs typeface="Tahoma"/>
            </a:endParaRPr>
          </a:p>
          <a:p>
            <a:pPr marL="121920">
              <a:lnSpc>
                <a:spcPct val="100000"/>
              </a:lnSpc>
              <a:spcBef>
                <a:spcPts val="1200"/>
              </a:spcBef>
            </a:pPr>
            <a:r>
              <a:rPr dirty="0" sz="800" b="1">
                <a:solidFill>
                  <a:srgbClr val="212121"/>
                </a:solidFill>
                <a:latin typeface="Arial"/>
                <a:cs typeface="Arial"/>
              </a:rPr>
              <a:t>READY</a:t>
            </a:r>
            <a:r>
              <a:rPr dirty="0" sz="800" spc="85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800" spc="50" b="1">
                <a:solidFill>
                  <a:srgbClr val="212121"/>
                </a:solidFill>
                <a:latin typeface="Arial"/>
                <a:cs typeface="Arial"/>
              </a:rPr>
              <a:t>TO</a:t>
            </a:r>
            <a:r>
              <a:rPr dirty="0" sz="800" spc="90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212121"/>
                </a:solidFill>
                <a:latin typeface="Arial"/>
                <a:cs typeface="Arial"/>
              </a:rPr>
              <a:t>MERGE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2624" y="1171168"/>
            <a:ext cx="1654810" cy="196215"/>
          </a:xfrm>
          <a:prstGeom prst="rect">
            <a:avLst/>
          </a:prstGeom>
          <a:solidFill>
            <a:srgbClr val="262626"/>
          </a:solidFill>
        </p:spPr>
        <p:txBody>
          <a:bodyPr wrap="square" lIns="0" tIns="0" rIns="0" bIns="0" rtlCol="0" vert="horz">
            <a:spAutoFit/>
          </a:bodyPr>
          <a:lstStyle/>
          <a:p>
            <a:pPr marL="45720">
              <a:lnSpc>
                <a:spcPts val="1435"/>
              </a:lnSpc>
            </a:pPr>
            <a:r>
              <a:rPr dirty="0" sz="1200">
                <a:solidFill>
                  <a:srgbClr val="444444"/>
                </a:solidFill>
                <a:latin typeface="Tahoma"/>
                <a:cs typeface="Tahoma"/>
              </a:rPr>
              <a:t>02</a:t>
            </a:r>
            <a:r>
              <a:rPr dirty="0" sz="1200" spc="204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52624" y="1367078"/>
            <a:ext cx="1654810" cy="1731010"/>
            <a:chOff x="2052624" y="1367078"/>
            <a:chExt cx="1654810" cy="1731010"/>
          </a:xfrm>
        </p:grpSpPr>
        <p:sp>
          <p:nvSpPr>
            <p:cNvPr id="12" name="object 12"/>
            <p:cNvSpPr/>
            <p:nvPr/>
          </p:nvSpPr>
          <p:spPr>
            <a:xfrm>
              <a:off x="2052624" y="1367078"/>
              <a:ext cx="1654810" cy="1731010"/>
            </a:xfrm>
            <a:custGeom>
              <a:avLst/>
              <a:gdLst/>
              <a:ahLst/>
              <a:cxnLst/>
              <a:rect l="l" t="t" r="r" b="b"/>
              <a:pathLst>
                <a:path w="1654810" h="1731010">
                  <a:moveTo>
                    <a:pt x="1654746" y="0"/>
                  </a:moveTo>
                  <a:lnTo>
                    <a:pt x="0" y="0"/>
                  </a:lnTo>
                  <a:lnTo>
                    <a:pt x="0" y="1730844"/>
                  </a:lnTo>
                  <a:lnTo>
                    <a:pt x="1654746" y="1730844"/>
                  </a:lnTo>
                  <a:lnTo>
                    <a:pt x="165474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098803" y="2905540"/>
              <a:ext cx="934719" cy="146685"/>
            </a:xfrm>
            <a:custGeom>
              <a:avLst/>
              <a:gdLst/>
              <a:ahLst/>
              <a:cxnLst/>
              <a:rect l="l" t="t" r="r" b="b"/>
              <a:pathLst>
                <a:path w="934719" h="146685">
                  <a:moveTo>
                    <a:pt x="89637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08250"/>
                  </a:lnTo>
                  <a:lnTo>
                    <a:pt x="2982" y="123025"/>
                  </a:lnTo>
                  <a:lnTo>
                    <a:pt x="11117" y="135091"/>
                  </a:lnTo>
                  <a:lnTo>
                    <a:pt x="23182" y="143226"/>
                  </a:lnTo>
                  <a:lnTo>
                    <a:pt x="37958" y="146209"/>
                  </a:lnTo>
                  <a:lnTo>
                    <a:pt x="896378" y="146209"/>
                  </a:lnTo>
                  <a:lnTo>
                    <a:pt x="911153" y="143226"/>
                  </a:lnTo>
                  <a:lnTo>
                    <a:pt x="923219" y="135091"/>
                  </a:lnTo>
                  <a:lnTo>
                    <a:pt x="931353" y="123025"/>
                  </a:lnTo>
                  <a:lnTo>
                    <a:pt x="934336" y="108250"/>
                  </a:lnTo>
                  <a:lnTo>
                    <a:pt x="934336" y="37958"/>
                  </a:lnTo>
                  <a:lnTo>
                    <a:pt x="931353" y="23183"/>
                  </a:lnTo>
                  <a:lnTo>
                    <a:pt x="923219" y="11117"/>
                  </a:lnTo>
                  <a:lnTo>
                    <a:pt x="911153" y="2982"/>
                  </a:lnTo>
                  <a:lnTo>
                    <a:pt x="896378" y="0"/>
                  </a:lnTo>
                  <a:close/>
                </a:path>
              </a:pathLst>
            </a:custGeom>
            <a:solidFill>
              <a:srgbClr val="E5CC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052624" y="1367078"/>
            <a:ext cx="1654810" cy="173101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21310" marR="388620" indent="-130810">
              <a:lnSpc>
                <a:spcPct val="100000"/>
              </a:lnSpc>
              <a:spcBef>
                <a:spcPts val="495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10">
                <a:latin typeface="Tahoma"/>
                <a:cs typeface="Tahoma"/>
              </a:rPr>
              <a:t>Predicts: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Stress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55">
                <a:latin typeface="Tahoma"/>
                <a:cs typeface="Tahoma"/>
              </a:rPr>
              <a:t>/ </a:t>
            </a:r>
            <a:r>
              <a:rPr dirty="0" sz="1000" spc="55">
                <a:latin typeface="Tahoma"/>
                <a:cs typeface="Tahoma"/>
              </a:rPr>
              <a:t>	</a:t>
            </a:r>
            <a:r>
              <a:rPr dirty="0" sz="1000">
                <a:latin typeface="Tahoma"/>
                <a:cs typeface="Tahoma"/>
              </a:rPr>
              <a:t>Activity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Focus</a:t>
            </a:r>
            <a:endParaRPr sz="1000">
              <a:latin typeface="Tahoma"/>
              <a:cs typeface="Tahoma"/>
            </a:endParaRPr>
          </a:p>
          <a:p>
            <a:pPr marL="321310" marR="145415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>
                <a:latin typeface="Tahoma"/>
                <a:cs typeface="Tahoma"/>
              </a:rPr>
              <a:t>ONNX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format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web </a:t>
            </a:r>
            <a:r>
              <a:rPr dirty="0" sz="1000" spc="-65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deployment</a:t>
            </a:r>
            <a:endParaRPr sz="1000">
              <a:latin typeface="Tahoma"/>
              <a:cs typeface="Tahoma"/>
            </a:endParaRPr>
          </a:p>
          <a:p>
            <a:pPr marL="321310" indent="-130810">
              <a:lnSpc>
                <a:spcPts val="12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1310" algn="l"/>
              </a:tabLst>
            </a:pPr>
            <a:r>
              <a:rPr dirty="0" sz="1000" spc="-45">
                <a:latin typeface="Tahoma"/>
                <a:cs typeface="Tahoma"/>
              </a:rPr>
              <a:t>Sensor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input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50" i="1">
                <a:latin typeface="Arial"/>
                <a:cs typeface="Arial"/>
              </a:rPr>
              <a:t>→</a:t>
            </a:r>
            <a:endParaRPr sz="1000">
              <a:latin typeface="Arial"/>
              <a:cs typeface="Arial"/>
            </a:endParaRPr>
          </a:p>
          <a:p>
            <a:pPr marL="323215">
              <a:lnSpc>
                <a:spcPts val="1200"/>
              </a:lnSpc>
            </a:pPr>
            <a:r>
              <a:rPr dirty="0" sz="1000" spc="-40">
                <a:latin typeface="Tahoma"/>
                <a:cs typeface="Tahoma"/>
              </a:rPr>
              <a:t>per-</a:t>
            </a:r>
            <a:r>
              <a:rPr dirty="0" sz="1000" spc="-45">
                <a:latin typeface="Tahoma"/>
                <a:cs typeface="Tahoma"/>
              </a:rPr>
              <a:t>personnel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output</a:t>
            </a:r>
            <a:endParaRPr sz="1000">
              <a:latin typeface="Tahoma"/>
              <a:cs typeface="Tahoma"/>
            </a:endParaRPr>
          </a:p>
          <a:p>
            <a:pPr marL="321310" marR="493395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30">
                <a:latin typeface="Tahoma"/>
                <a:cs typeface="Tahoma"/>
              </a:rPr>
              <a:t>Per-</a:t>
            </a:r>
            <a:r>
              <a:rPr dirty="0" sz="1000" spc="-50">
                <a:latin typeface="Tahoma"/>
                <a:cs typeface="Tahoma"/>
              </a:rPr>
              <a:t>user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display </a:t>
            </a:r>
            <a:r>
              <a:rPr dirty="0" sz="1000" spc="-40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designed</a:t>
            </a:r>
            <a:endParaRPr sz="1000">
              <a:latin typeface="Tahoma"/>
              <a:cs typeface="Tahoma"/>
            </a:endParaRPr>
          </a:p>
          <a:p>
            <a:pPr marL="121920">
              <a:lnSpc>
                <a:spcPct val="100000"/>
              </a:lnSpc>
              <a:spcBef>
                <a:spcPts val="1205"/>
              </a:spcBef>
            </a:pPr>
            <a:r>
              <a:rPr dirty="0" sz="80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800" spc="1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111111"/>
                </a:solidFill>
                <a:latin typeface="Arial"/>
                <a:cs typeface="Arial"/>
              </a:rPr>
              <a:t>READY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3228" y="1171168"/>
            <a:ext cx="1654810" cy="402590"/>
          </a:xfrm>
          <a:prstGeom prst="rect">
            <a:avLst/>
          </a:prstGeom>
          <a:solidFill>
            <a:srgbClr val="262626"/>
          </a:solidFill>
        </p:spPr>
        <p:txBody>
          <a:bodyPr wrap="square" lIns="0" tIns="10160" rIns="0" bIns="0" rtlCol="0" vert="horz">
            <a:spAutoFit/>
          </a:bodyPr>
          <a:lstStyle/>
          <a:p>
            <a:pPr marL="45720" marR="783590">
              <a:lnSpc>
                <a:spcPts val="1390"/>
              </a:lnSpc>
              <a:spcBef>
                <a:spcPts val="80"/>
              </a:spcBef>
            </a:pPr>
            <a:r>
              <a:rPr dirty="0" sz="1200">
                <a:solidFill>
                  <a:srgbClr val="444444"/>
                </a:solidFill>
                <a:latin typeface="Tahoma"/>
                <a:cs typeface="Tahoma"/>
              </a:rPr>
              <a:t>03</a:t>
            </a:r>
            <a:r>
              <a:rPr dirty="0" sz="1200" spc="195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Cognitive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Engagement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83228" y="1573733"/>
            <a:ext cx="1654810" cy="1389380"/>
            <a:chOff x="3883228" y="1573733"/>
            <a:chExt cx="1654810" cy="1389380"/>
          </a:xfrm>
        </p:grpSpPr>
        <p:sp>
          <p:nvSpPr>
            <p:cNvPr id="17" name="object 17"/>
            <p:cNvSpPr/>
            <p:nvPr/>
          </p:nvSpPr>
          <p:spPr>
            <a:xfrm>
              <a:off x="3883228" y="1573733"/>
              <a:ext cx="1654810" cy="1389380"/>
            </a:xfrm>
            <a:custGeom>
              <a:avLst/>
              <a:gdLst/>
              <a:ahLst/>
              <a:cxnLst/>
              <a:rect l="l" t="t" r="r" b="b"/>
              <a:pathLst>
                <a:path w="1654810" h="1389380">
                  <a:moveTo>
                    <a:pt x="1654746" y="0"/>
                  </a:moveTo>
                  <a:lnTo>
                    <a:pt x="0" y="0"/>
                  </a:lnTo>
                  <a:lnTo>
                    <a:pt x="0" y="1389227"/>
                  </a:lnTo>
                  <a:lnTo>
                    <a:pt x="1654746" y="1389227"/>
                  </a:lnTo>
                  <a:lnTo>
                    <a:pt x="165474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29393" y="2770577"/>
              <a:ext cx="934719" cy="146685"/>
            </a:xfrm>
            <a:custGeom>
              <a:avLst/>
              <a:gdLst/>
              <a:ahLst/>
              <a:cxnLst/>
              <a:rect l="l" t="t" r="r" b="b"/>
              <a:pathLst>
                <a:path w="934720" h="146685">
                  <a:moveTo>
                    <a:pt x="89637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08250"/>
                  </a:lnTo>
                  <a:lnTo>
                    <a:pt x="2982" y="123025"/>
                  </a:lnTo>
                  <a:lnTo>
                    <a:pt x="11117" y="135091"/>
                  </a:lnTo>
                  <a:lnTo>
                    <a:pt x="23182" y="143226"/>
                  </a:lnTo>
                  <a:lnTo>
                    <a:pt x="37958" y="146209"/>
                  </a:lnTo>
                  <a:lnTo>
                    <a:pt x="896378" y="146209"/>
                  </a:lnTo>
                  <a:lnTo>
                    <a:pt x="911153" y="143226"/>
                  </a:lnTo>
                  <a:lnTo>
                    <a:pt x="923219" y="135091"/>
                  </a:lnTo>
                  <a:lnTo>
                    <a:pt x="931353" y="123025"/>
                  </a:lnTo>
                  <a:lnTo>
                    <a:pt x="934336" y="108250"/>
                  </a:lnTo>
                  <a:lnTo>
                    <a:pt x="934336" y="37958"/>
                  </a:lnTo>
                  <a:lnTo>
                    <a:pt x="931353" y="23183"/>
                  </a:lnTo>
                  <a:lnTo>
                    <a:pt x="923219" y="11117"/>
                  </a:lnTo>
                  <a:lnTo>
                    <a:pt x="911153" y="2982"/>
                  </a:lnTo>
                  <a:lnTo>
                    <a:pt x="896378" y="0"/>
                  </a:lnTo>
                  <a:close/>
                </a:path>
              </a:pathLst>
            </a:custGeom>
            <a:solidFill>
              <a:srgbClr val="E5CC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883228" y="1573733"/>
            <a:ext cx="1654810" cy="13893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21945" marR="390525" indent="-131445">
              <a:lnSpc>
                <a:spcPct val="100000"/>
              </a:lnSpc>
              <a:spcBef>
                <a:spcPts val="495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45">
                <a:latin typeface="Tahoma"/>
                <a:cs typeface="Tahoma"/>
              </a:rPr>
              <a:t>Same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smartwatch </a:t>
            </a:r>
            <a:r>
              <a:rPr dirty="0" sz="1000" spc="-45">
                <a:latin typeface="Tahoma"/>
                <a:cs typeface="Tahoma"/>
              </a:rPr>
              <a:t>	</a:t>
            </a:r>
            <a:r>
              <a:rPr dirty="0" sz="1000" spc="-65">
                <a:latin typeface="Tahoma"/>
                <a:cs typeface="Tahoma"/>
              </a:rPr>
              <a:t>sensor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inputs</a:t>
            </a:r>
            <a:endParaRPr sz="1000">
              <a:latin typeface="Tahoma"/>
              <a:cs typeface="Tahoma"/>
            </a:endParaRPr>
          </a:p>
          <a:p>
            <a:pPr marL="321945" marR="316230" indent="-131445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30">
                <a:latin typeface="Tahoma"/>
                <a:cs typeface="Tahoma"/>
              </a:rPr>
              <a:t>Classifies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Cognitive </a:t>
            </a:r>
            <a:r>
              <a:rPr dirty="0" sz="1000" spc="-25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Engagement</a:t>
            </a:r>
            <a:endParaRPr sz="1000">
              <a:latin typeface="Tahoma"/>
              <a:cs typeface="Tahoma"/>
            </a:endParaRPr>
          </a:p>
          <a:p>
            <a:pPr marL="321945" marR="266065" indent="-131445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35">
                <a:latin typeface="Tahoma"/>
                <a:cs typeface="Tahoma"/>
              </a:rPr>
              <a:t>Dashboard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flags </a:t>
            </a:r>
            <a:r>
              <a:rPr dirty="0" sz="1000" spc="-10">
                <a:latin typeface="Tahoma"/>
                <a:cs typeface="Tahoma"/>
              </a:rPr>
              <a:t>	</a:t>
            </a:r>
            <a:r>
              <a:rPr dirty="0" sz="1000" spc="-25">
                <a:latin typeface="Tahoma"/>
                <a:cs typeface="Tahoma"/>
              </a:rPr>
              <a:t>distracted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personnel</a:t>
            </a:r>
            <a:endParaRPr sz="1000">
              <a:latin typeface="Tahoma"/>
              <a:cs typeface="Tahoma"/>
            </a:endParaRPr>
          </a:p>
          <a:p>
            <a:pPr marL="121920">
              <a:lnSpc>
                <a:spcPct val="100000"/>
              </a:lnSpc>
              <a:spcBef>
                <a:spcPts val="1200"/>
              </a:spcBef>
            </a:pPr>
            <a:r>
              <a:rPr dirty="0" sz="80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800" spc="1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111111"/>
                </a:solidFill>
                <a:latin typeface="Arial"/>
                <a:cs typeface="Arial"/>
              </a:rPr>
              <a:t>READY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35128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Cognitive</a:t>
            </a:r>
            <a:r>
              <a:rPr dirty="0" sz="12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Alertness</a:t>
            </a:r>
            <a:r>
              <a:rPr dirty="0" sz="12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2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2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Initial</a:t>
            </a:r>
            <a:r>
              <a:rPr dirty="0" sz="12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Live</a:t>
            </a:r>
            <a:r>
              <a:rPr dirty="0" sz="12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54428"/>
            <a:ext cx="3931055" cy="16955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817" y="2203259"/>
            <a:ext cx="5132705" cy="225425"/>
          </a:xfrm>
          <a:prstGeom prst="rect">
            <a:avLst/>
          </a:prstGeom>
          <a:solidFill>
            <a:srgbClr val="262626"/>
          </a:solidFill>
        </p:spPr>
        <p:txBody>
          <a:bodyPr wrap="square" lIns="0" tIns="0" rIns="0" bIns="0" rtlCol="0" vert="horz">
            <a:spAutoFit/>
          </a:bodyPr>
          <a:lstStyle/>
          <a:p>
            <a:pPr marL="45720">
              <a:lnSpc>
                <a:spcPts val="1435"/>
              </a:lnSpc>
            </a:pP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Live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3817" y="2428684"/>
            <a:ext cx="5132705" cy="811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100330" rIns="0" bIns="0" rtlCol="0" vert="horz">
            <a:spAutoFit/>
          </a:bodyPr>
          <a:lstStyle/>
          <a:p>
            <a:pPr marL="321310" indent="-130810">
              <a:lnSpc>
                <a:spcPts val="1200"/>
              </a:lnSpc>
              <a:spcBef>
                <a:spcPts val="790"/>
              </a:spcBef>
              <a:buClr>
                <a:srgbClr val="444444"/>
              </a:buClr>
              <a:buFont typeface="Arial MT"/>
              <a:buChar char="•"/>
              <a:tabLst>
                <a:tab pos="321310" algn="l"/>
              </a:tabLst>
            </a:pPr>
            <a:r>
              <a:rPr dirty="0" sz="1000" spc="-10">
                <a:latin typeface="Tahoma"/>
                <a:cs typeface="Tahoma"/>
              </a:rPr>
              <a:t>During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20-</a:t>
            </a:r>
            <a:r>
              <a:rPr dirty="0" sz="1000" spc="-45">
                <a:latin typeface="Tahoma"/>
                <a:cs typeface="Tahoma"/>
              </a:rPr>
              <a:t>second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session,</a:t>
            </a:r>
            <a:r>
              <a:rPr dirty="0" sz="1000" spc="-20">
                <a:latin typeface="Tahoma"/>
                <a:cs typeface="Tahoma"/>
              </a:rPr>
              <a:t> the </a:t>
            </a:r>
            <a:r>
              <a:rPr dirty="0" sz="1000" spc="-35">
                <a:latin typeface="Tahoma"/>
                <a:cs typeface="Tahoma"/>
              </a:rPr>
              <a:t>subject</a:t>
            </a:r>
            <a:r>
              <a:rPr dirty="0" sz="1000" spc="-20">
                <a:latin typeface="Tahoma"/>
                <a:cs typeface="Tahoma"/>
              </a:rPr>
              <a:t> intentionally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made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vigorous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movements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about</a:t>
            </a:r>
            <a:endParaRPr sz="1000">
              <a:latin typeface="Tahoma"/>
              <a:cs typeface="Tahoma"/>
            </a:endParaRPr>
          </a:p>
          <a:p>
            <a:pPr marL="323215">
              <a:lnSpc>
                <a:spcPts val="1200"/>
              </a:lnSpc>
            </a:pPr>
            <a:r>
              <a:rPr dirty="0" sz="1000" b="1">
                <a:latin typeface="Arial"/>
                <a:cs typeface="Arial"/>
              </a:rPr>
              <a:t>4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80" b="1">
                <a:latin typeface="Arial"/>
                <a:cs typeface="Arial"/>
              </a:rPr>
              <a:t>seconds</a:t>
            </a:r>
            <a:r>
              <a:rPr dirty="0" sz="1000" spc="-80">
                <a:latin typeface="Tahoma"/>
                <a:cs typeface="Tahoma"/>
              </a:rPr>
              <a:t>,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which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AI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correctly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classified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this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period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 b="1">
                <a:latin typeface="Arial"/>
                <a:cs typeface="Arial"/>
              </a:rPr>
              <a:t>Distracted</a:t>
            </a:r>
            <a:r>
              <a:rPr dirty="0" sz="1000" spc="-1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321310" marR="59690" indent="-130810">
              <a:lnSpc>
                <a:spcPct val="100000"/>
              </a:lnSpc>
              <a:spcBef>
                <a:spcPts val="595"/>
              </a:spcBef>
              <a:buClr>
                <a:srgbClr val="444444"/>
              </a:buClr>
              <a:buFont typeface="Arial MT"/>
              <a:buChar char="•"/>
              <a:tabLst>
                <a:tab pos="323215" algn="l"/>
              </a:tabLst>
            </a:pPr>
            <a:r>
              <a:rPr dirty="0" sz="1000" spc="-30">
                <a:latin typeface="Tahoma"/>
                <a:cs typeface="Tahoma"/>
              </a:rPr>
              <a:t>These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initial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results </a:t>
            </a:r>
            <a:r>
              <a:rPr dirty="0" sz="1000" spc="-20">
                <a:latin typeface="Tahoma"/>
                <a:cs typeface="Tahoma"/>
              </a:rPr>
              <a:t>indicate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 </a:t>
            </a:r>
            <a:r>
              <a:rPr dirty="0" sz="1000" spc="-20">
                <a:latin typeface="Tahoma"/>
                <a:cs typeface="Tahoma"/>
              </a:rPr>
              <a:t>can </a:t>
            </a:r>
            <a:r>
              <a:rPr dirty="0" sz="1000" spc="-25">
                <a:latin typeface="Tahoma"/>
                <a:cs typeface="Tahoma"/>
              </a:rPr>
              <a:t>detect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sudden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changes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attention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using </a:t>
            </a:r>
            <a:r>
              <a:rPr dirty="0" sz="1000" spc="-10">
                <a:latin typeface="Tahoma"/>
                <a:cs typeface="Tahoma"/>
              </a:rPr>
              <a:t>	</a:t>
            </a:r>
            <a:r>
              <a:rPr dirty="0" sz="1000" spc="-40">
                <a:latin typeface="Tahoma"/>
                <a:cs typeface="Tahoma"/>
              </a:rPr>
              <a:t>smartwatch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sensor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180"/>
              <a:t> </a:t>
            </a:r>
            <a:r>
              <a:rPr dirty="0" spc="-75"/>
              <a:t>Robustness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716" y="328326"/>
            <a:ext cx="2426335" cy="77724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000" spc="-290">
                <a:solidFill>
                  <a:srgbClr val="111111"/>
                </a:solidFill>
                <a:latin typeface="MingLiU_HKSCS-ExtB"/>
                <a:cs typeface="MingLiU_HKSCS-ExtB"/>
              </a:rPr>
              <a:t>▲</a:t>
            </a:r>
            <a:r>
              <a:rPr dirty="0" sz="1000" spc="175">
                <a:solidFill>
                  <a:srgbClr val="111111"/>
                </a:solidFill>
                <a:latin typeface="MingLiU_HKSCS-ExtB"/>
                <a:cs typeface="MingLiU_HKSCS-ExtB"/>
              </a:rPr>
              <a:t> </a:t>
            </a: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000" spc="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65"/>
              </a:spcBef>
            </a:pP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Watch</a:t>
            </a:r>
            <a:r>
              <a:rPr dirty="0" sz="1000" spc="-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HR </a:t>
            </a:r>
            <a:r>
              <a:rPr dirty="0" sz="1000" spc="-45">
                <a:solidFill>
                  <a:srgbClr val="111111"/>
                </a:solidFill>
                <a:latin typeface="Tahoma"/>
                <a:cs typeface="Tahoma"/>
              </a:rPr>
              <a:t>readings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111111"/>
                </a:solidFill>
                <a:latin typeface="Tahoma"/>
                <a:cs typeface="Tahoma"/>
              </a:rPr>
              <a:t>were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unstable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dirty="0" sz="1000" spc="-30">
                <a:solidFill>
                  <a:srgbClr val="111111"/>
                </a:solidFill>
                <a:latin typeface="Tahoma"/>
                <a:cs typeface="Tahoma"/>
              </a:rPr>
              <a:t>inconsistent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during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11111"/>
                </a:solidFill>
                <a:latin typeface="Tahoma"/>
                <a:cs typeface="Tahoma"/>
              </a:rPr>
              <a:t>smartwatch</a:t>
            </a:r>
            <a:r>
              <a:rPr dirty="0" sz="1000" spc="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111111"/>
                </a:solidFill>
                <a:latin typeface="Tahoma"/>
                <a:cs typeface="Tahoma"/>
              </a:rPr>
              <a:t>sensor</a:t>
            </a:r>
            <a:r>
              <a:rPr dirty="0" sz="1000" spc="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111111"/>
                </a:solidFill>
                <a:latin typeface="Tahoma"/>
                <a:cs typeface="Tahoma"/>
              </a:rPr>
              <a:t>stream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testing.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316" y="1133646"/>
            <a:ext cx="2489200" cy="58928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dirty="0" sz="1000" b="1">
                <a:solidFill>
                  <a:srgbClr val="212121"/>
                </a:solidFill>
                <a:latin typeface="Arial"/>
                <a:cs typeface="Arial"/>
              </a:rPr>
              <a:t>SpO</a:t>
            </a:r>
            <a:r>
              <a:rPr dirty="0" baseline="-11904" sz="1050" b="1">
                <a:solidFill>
                  <a:srgbClr val="212121"/>
                </a:solidFill>
                <a:latin typeface="Arial"/>
                <a:cs typeface="Arial"/>
              </a:rPr>
              <a:t>2</a:t>
            </a:r>
            <a:r>
              <a:rPr dirty="0" baseline="-11904" sz="1050" spc="142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12121"/>
                </a:solidFill>
                <a:latin typeface="Arial"/>
                <a:cs typeface="Arial"/>
              </a:rPr>
              <a:t>Status:</a:t>
            </a:r>
            <a:r>
              <a:rPr dirty="0" sz="1000" spc="315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180">
                <a:solidFill>
                  <a:srgbClr val="212121"/>
                </a:solidFill>
                <a:latin typeface="MingLiU_HKSCS-ExtB"/>
                <a:cs typeface="MingLiU_HKSCS-ExtB"/>
              </a:rPr>
              <a:t>✓</a:t>
            </a:r>
            <a:r>
              <a:rPr dirty="0" sz="1000" spc="-170">
                <a:solidFill>
                  <a:srgbClr val="212121"/>
                </a:solidFill>
                <a:latin typeface="MingLiU_HKSCS-ExtB"/>
                <a:cs typeface="MingLiU_HKSCS-ExtB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Tahoma"/>
                <a:cs typeface="Tahoma"/>
              </a:rPr>
              <a:t>Readings </a:t>
            </a:r>
            <a:r>
              <a:rPr dirty="0" sz="1000" spc="-40">
                <a:solidFill>
                  <a:srgbClr val="212121"/>
                </a:solidFill>
                <a:latin typeface="Tahoma"/>
                <a:cs typeface="Tahoma"/>
              </a:rPr>
              <a:t>reasonably</a:t>
            </a:r>
            <a:r>
              <a:rPr dirty="0" sz="1000" spc="-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stable</a:t>
            </a:r>
            <a:endParaRPr sz="1000">
              <a:latin typeface="Tahoma"/>
              <a:cs typeface="Tahoma"/>
            </a:endParaRPr>
          </a:p>
          <a:p>
            <a:pPr marL="38100" marR="553720">
              <a:lnSpc>
                <a:spcPct val="100000"/>
              </a:lnSpc>
              <a:spcBef>
                <a:spcPts val="420"/>
              </a:spcBef>
            </a:pP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HR</a:t>
            </a:r>
            <a:r>
              <a:rPr dirty="0" sz="1000" spc="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Status:</a:t>
            </a:r>
            <a:r>
              <a:rPr dirty="0" sz="1000" spc="3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spc="180" i="1">
                <a:solidFill>
                  <a:srgbClr val="111111"/>
                </a:solidFill>
                <a:latin typeface="Arial"/>
                <a:cs typeface="Arial"/>
              </a:rPr>
              <a:t>×</a:t>
            </a:r>
            <a:r>
              <a:rPr dirty="0" sz="1000" spc="2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Readings</a:t>
            </a:r>
            <a:r>
              <a:rPr dirty="0" sz="1000" spc="-1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fluctuate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significantly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716" y="1729213"/>
            <a:ext cx="2383155" cy="9366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Impact</a:t>
            </a:r>
            <a:r>
              <a:rPr dirty="0" sz="1000" spc="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dirty="0" sz="1000" spc="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AI</a:t>
            </a:r>
            <a:r>
              <a:rPr dirty="0" sz="1000" spc="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11111"/>
                </a:solidFill>
                <a:latin typeface="Arial"/>
                <a:cs typeface="Arial"/>
              </a:rPr>
              <a:t>Models:</a:t>
            </a:r>
            <a:endParaRPr sz="1000">
              <a:latin typeface="Arial"/>
              <a:cs typeface="Arial"/>
            </a:endParaRPr>
          </a:p>
          <a:p>
            <a:pPr marL="288290" indent="-131445">
              <a:lnSpc>
                <a:spcPct val="100000"/>
              </a:lnSpc>
              <a:spcBef>
                <a:spcPts val="590"/>
              </a:spcBef>
              <a:buClr>
                <a:srgbClr val="444444"/>
              </a:buClr>
              <a:buFont typeface="Arial MT"/>
              <a:buChar char="•"/>
              <a:tabLst>
                <a:tab pos="288290" algn="l"/>
              </a:tabLst>
            </a:pPr>
            <a:r>
              <a:rPr dirty="0" sz="1000" spc="-40">
                <a:solidFill>
                  <a:srgbClr val="111111"/>
                </a:solidFill>
                <a:latin typeface="Tahoma"/>
                <a:cs typeface="Tahoma"/>
              </a:rPr>
              <a:t>Incorrect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model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predictions</a:t>
            </a:r>
            <a:endParaRPr sz="1000">
              <a:latin typeface="Tahoma"/>
              <a:cs typeface="Tahoma"/>
            </a:endParaRPr>
          </a:p>
          <a:p>
            <a:pPr marL="288290" indent="-131445">
              <a:lnSpc>
                <a:spcPct val="100000"/>
              </a:lnSpc>
              <a:spcBef>
                <a:spcPts val="595"/>
              </a:spcBef>
              <a:buClr>
                <a:srgbClr val="444444"/>
              </a:buClr>
              <a:buFont typeface="Arial MT"/>
              <a:buChar char="•"/>
              <a:tabLst>
                <a:tab pos="288290" algn="l"/>
              </a:tabLst>
            </a:pP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Unreliable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live</a:t>
            </a:r>
            <a:r>
              <a:rPr dirty="0" sz="1000" spc="-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testing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outcomes</a:t>
            </a:r>
            <a:endParaRPr sz="1000">
              <a:latin typeface="Tahoma"/>
              <a:cs typeface="Tahoma"/>
            </a:endParaRPr>
          </a:p>
          <a:p>
            <a:pPr marL="288290" indent="-131445">
              <a:lnSpc>
                <a:spcPct val="100000"/>
              </a:lnSpc>
              <a:spcBef>
                <a:spcPts val="590"/>
              </a:spcBef>
              <a:buClr>
                <a:srgbClr val="444444"/>
              </a:buClr>
              <a:buFont typeface="Arial MT"/>
              <a:buChar char="•"/>
              <a:tabLst>
                <a:tab pos="288290" algn="l"/>
              </a:tabLst>
            </a:pP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Difficulty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validating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model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performance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0396" y="2820488"/>
            <a:ext cx="1815464" cy="146685"/>
          </a:xfrm>
          <a:custGeom>
            <a:avLst/>
            <a:gdLst/>
            <a:ahLst/>
            <a:cxnLst/>
            <a:rect l="l" t="t" r="r" b="b"/>
            <a:pathLst>
              <a:path w="1815464" h="146685">
                <a:moveTo>
                  <a:pt x="1777012" y="0"/>
                </a:moveTo>
                <a:lnTo>
                  <a:pt x="37958" y="0"/>
                </a:lnTo>
                <a:lnTo>
                  <a:pt x="23182" y="2982"/>
                </a:lnTo>
                <a:lnTo>
                  <a:pt x="11117" y="11117"/>
                </a:lnTo>
                <a:lnTo>
                  <a:pt x="2982" y="23183"/>
                </a:lnTo>
                <a:lnTo>
                  <a:pt x="0" y="37958"/>
                </a:lnTo>
                <a:lnTo>
                  <a:pt x="0" y="108250"/>
                </a:lnTo>
                <a:lnTo>
                  <a:pt x="2982" y="123025"/>
                </a:lnTo>
                <a:lnTo>
                  <a:pt x="11117" y="135091"/>
                </a:lnTo>
                <a:lnTo>
                  <a:pt x="23182" y="143226"/>
                </a:lnTo>
                <a:lnTo>
                  <a:pt x="37958" y="146209"/>
                </a:lnTo>
                <a:lnTo>
                  <a:pt x="1777012" y="146209"/>
                </a:lnTo>
                <a:lnTo>
                  <a:pt x="1791787" y="143226"/>
                </a:lnTo>
                <a:lnTo>
                  <a:pt x="1803852" y="135091"/>
                </a:lnTo>
                <a:lnTo>
                  <a:pt x="1811987" y="123025"/>
                </a:lnTo>
                <a:lnTo>
                  <a:pt x="1814970" y="108250"/>
                </a:lnTo>
                <a:lnTo>
                  <a:pt x="1814970" y="37958"/>
                </a:lnTo>
                <a:lnTo>
                  <a:pt x="1811987" y="23183"/>
                </a:lnTo>
                <a:lnTo>
                  <a:pt x="1803852" y="11117"/>
                </a:lnTo>
                <a:lnTo>
                  <a:pt x="1791787" y="2982"/>
                </a:lnTo>
                <a:lnTo>
                  <a:pt x="177701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3624" y="2814826"/>
            <a:ext cx="16891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90">
                <a:solidFill>
                  <a:srgbClr val="111111"/>
                </a:solidFill>
                <a:latin typeface="Lucida Sans Unicode"/>
                <a:cs typeface="Lucida Sans Unicode"/>
              </a:rPr>
              <a:t>⇒</a:t>
            </a:r>
            <a:r>
              <a:rPr dirty="0" sz="800" spc="-15">
                <a:solidFill>
                  <a:srgbClr val="111111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0" b="1">
                <a:solidFill>
                  <a:srgbClr val="111111"/>
                </a:solidFill>
                <a:latin typeface="Arial"/>
                <a:cs typeface="Arial"/>
              </a:rPr>
              <a:t>Live</a:t>
            </a:r>
            <a:r>
              <a:rPr dirty="0" sz="800" spc="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-25" b="1">
                <a:solidFill>
                  <a:srgbClr val="111111"/>
                </a:solidFill>
                <a:latin typeface="Arial"/>
                <a:cs typeface="Arial"/>
              </a:rPr>
              <a:t>validation</a:t>
            </a:r>
            <a:r>
              <a:rPr dirty="0" sz="800" spc="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111111"/>
                </a:solidFill>
                <a:latin typeface="Arial"/>
                <a:cs typeface="Arial"/>
              </a:rPr>
              <a:t>will</a:t>
            </a:r>
            <a:r>
              <a:rPr dirty="0" sz="800" spc="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-25" b="1">
                <a:solidFill>
                  <a:srgbClr val="111111"/>
                </a:solidFill>
                <a:latin typeface="Arial"/>
                <a:cs typeface="Arial"/>
              </a:rPr>
              <a:t>now</a:t>
            </a:r>
            <a:r>
              <a:rPr dirty="0" sz="800" spc="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111111"/>
                </a:solidFill>
                <a:latin typeface="Arial"/>
                <a:cs typeface="Arial"/>
              </a:rPr>
              <a:t>be</a:t>
            </a:r>
            <a:r>
              <a:rPr dirty="0" sz="800" spc="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111111"/>
                </a:solidFill>
                <a:latin typeface="Arial"/>
                <a:cs typeface="Arial"/>
              </a:rPr>
              <a:t>done.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7707" y="400321"/>
            <a:ext cx="1952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444444"/>
                </a:solidFill>
                <a:latin typeface="Arial"/>
                <a:cs typeface="Arial"/>
              </a:rPr>
              <a:t>Efforts</a:t>
            </a:r>
            <a:r>
              <a:rPr dirty="0" sz="1000" spc="3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444444"/>
                </a:solidFill>
                <a:latin typeface="Arial"/>
                <a:cs typeface="Arial"/>
              </a:rPr>
              <a:t>by</a:t>
            </a:r>
            <a:r>
              <a:rPr dirty="0" sz="1000" spc="3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AI</a:t>
            </a:r>
            <a:r>
              <a:rPr dirty="0" sz="1000" spc="3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Team</a:t>
            </a:r>
            <a:r>
              <a:rPr dirty="0" sz="1000" spc="3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54" b="1">
                <a:solidFill>
                  <a:srgbClr val="444444"/>
                </a:solidFill>
                <a:latin typeface="Arial"/>
                <a:cs typeface="Arial"/>
              </a:rPr>
              <a:t>+</a:t>
            </a:r>
            <a:r>
              <a:rPr dirty="0" sz="1000" spc="3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ECE</a:t>
            </a:r>
            <a:r>
              <a:rPr dirty="0" sz="1000" spc="3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444444"/>
                </a:solidFill>
                <a:latin typeface="Arial"/>
                <a:cs typeface="Arial"/>
              </a:rPr>
              <a:t>Team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6884" y="662106"/>
            <a:ext cx="2273300" cy="2416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8275" marR="314325" indent="-130810">
              <a:lnSpc>
                <a:spcPct val="100000"/>
              </a:lnSpc>
              <a:spcBef>
                <a:spcPts val="95"/>
              </a:spcBef>
              <a:buClr>
                <a:srgbClr val="444444"/>
              </a:buClr>
              <a:buFont typeface="Arial MT"/>
              <a:buChar char="•"/>
              <a:tabLst>
                <a:tab pos="170180" algn="l"/>
              </a:tabLst>
            </a:pP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Motion</a:t>
            </a:r>
            <a:r>
              <a:rPr dirty="0" sz="1000" spc="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Debounce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 Post-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Motion 	Recovery</a:t>
            </a:r>
            <a:endParaRPr sz="1000">
              <a:latin typeface="Tahoma"/>
              <a:cs typeface="Tahoma"/>
            </a:endParaRPr>
          </a:p>
          <a:p>
            <a:pPr marL="168275" marR="30480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170180" algn="l"/>
              </a:tabLst>
            </a:pPr>
            <a:r>
              <a:rPr dirty="0" sz="1000" spc="-45">
                <a:solidFill>
                  <a:srgbClr val="111111"/>
                </a:solidFill>
                <a:latin typeface="Tahoma"/>
                <a:cs typeface="Tahoma"/>
              </a:rPr>
              <a:t>Sensor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111111"/>
                </a:solidFill>
                <a:latin typeface="Tahoma"/>
                <a:cs typeface="Tahoma"/>
              </a:rPr>
              <a:t>Warmup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Pause</a:t>
            </a:r>
            <a:r>
              <a:rPr dirty="0" sz="1000" spc="-1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Vitals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During 	Motion</a:t>
            </a:r>
            <a:endParaRPr sz="1000">
              <a:latin typeface="Tahoma"/>
              <a:cs typeface="Tahoma"/>
            </a:endParaRPr>
          </a:p>
          <a:p>
            <a:pPr marL="168275" marR="511175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170180" algn="l"/>
              </a:tabLst>
            </a:pPr>
            <a:r>
              <a:rPr dirty="0" sz="1000" spc="-40">
                <a:solidFill>
                  <a:srgbClr val="111111"/>
                </a:solidFill>
                <a:latin typeface="Tahoma"/>
                <a:cs typeface="Tahoma"/>
              </a:rPr>
              <a:t>Delayed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Motion</a:t>
            </a:r>
            <a:r>
              <a:rPr dirty="0" sz="1000" spc="-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Flush</a:t>
            </a:r>
            <a:r>
              <a:rPr dirty="0" sz="1000" spc="-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Beat 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	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Timestamp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Reset</a:t>
            </a:r>
            <a:endParaRPr sz="1000">
              <a:latin typeface="Tahoma"/>
              <a:cs typeface="Tahoma"/>
            </a:endParaRPr>
          </a:p>
          <a:p>
            <a:pPr marL="168910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168910" algn="l"/>
              </a:tabLst>
            </a:pP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Lower</a:t>
            </a:r>
            <a:r>
              <a:rPr dirty="0" sz="1000" spc="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HR</a:t>
            </a:r>
            <a:r>
              <a:rPr dirty="0" sz="1000" spc="1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Amplitude</a:t>
            </a:r>
            <a:r>
              <a:rPr dirty="0" sz="1000" spc="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Threshold</a:t>
            </a:r>
            <a:endParaRPr sz="1000">
              <a:latin typeface="Tahoma"/>
              <a:cs typeface="Tahoma"/>
            </a:endParaRPr>
          </a:p>
          <a:p>
            <a:pPr marL="168275" marR="388620" indent="-130810">
              <a:lnSpc>
                <a:spcPct val="100000"/>
              </a:lnSpc>
              <a:spcBef>
                <a:spcPts val="295"/>
              </a:spcBef>
              <a:buClr>
                <a:srgbClr val="444444"/>
              </a:buClr>
              <a:buFont typeface="Arial MT"/>
              <a:buChar char="•"/>
              <a:tabLst>
                <a:tab pos="170180" algn="l"/>
              </a:tabLst>
            </a:pP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HR</a:t>
            </a:r>
            <a:r>
              <a:rPr dirty="0" sz="1000" spc="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Stability</a:t>
            </a:r>
            <a:r>
              <a:rPr dirty="0" sz="1000" spc="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111111"/>
                </a:solidFill>
                <a:latin typeface="Tahoma"/>
                <a:cs typeface="Tahoma"/>
              </a:rPr>
              <a:t>Requirement</a:t>
            </a:r>
            <a:r>
              <a:rPr dirty="0" sz="1000" spc="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000" spc="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HR 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	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Smoothing</a:t>
            </a:r>
            <a:endParaRPr sz="1000">
              <a:latin typeface="Tahoma"/>
              <a:cs typeface="Tahoma"/>
            </a:endParaRPr>
          </a:p>
          <a:p>
            <a:pPr marL="168910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168910" algn="l"/>
              </a:tabLst>
            </a:pP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Hold</a:t>
            </a:r>
            <a:r>
              <a:rPr dirty="0" sz="1000" spc="-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Last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Valid HR</a:t>
            </a:r>
            <a:r>
              <a:rPr dirty="0" sz="1000" spc="-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reading</a:t>
            </a:r>
            <a:endParaRPr sz="1000">
              <a:latin typeface="Tahoma"/>
              <a:cs typeface="Tahoma"/>
            </a:endParaRPr>
          </a:p>
          <a:p>
            <a:pPr marL="168275" marR="88265" indent="-130810">
              <a:lnSpc>
                <a:spcPct val="100000"/>
              </a:lnSpc>
              <a:spcBef>
                <a:spcPts val="295"/>
              </a:spcBef>
              <a:buClr>
                <a:srgbClr val="444444"/>
              </a:buClr>
              <a:buFont typeface="Arial MT"/>
              <a:buChar char="•"/>
              <a:tabLst>
                <a:tab pos="170180" algn="l"/>
              </a:tabLst>
            </a:pP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Longer</a:t>
            </a:r>
            <a:r>
              <a:rPr dirty="0" sz="1000" spc="-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SpO</a:t>
            </a:r>
            <a:r>
              <a:rPr dirty="0" baseline="-11904" sz="1050">
                <a:solidFill>
                  <a:srgbClr val="111111"/>
                </a:solidFill>
                <a:latin typeface="Arial MT"/>
                <a:cs typeface="Arial MT"/>
              </a:rPr>
              <a:t>2</a:t>
            </a:r>
            <a:r>
              <a:rPr dirty="0" baseline="-11904" sz="1050" spc="209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Window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000" spc="-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Lower</a:t>
            </a:r>
            <a:r>
              <a:rPr dirty="0" sz="1000" spc="-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11111"/>
                </a:solidFill>
                <a:latin typeface="Tahoma"/>
                <a:cs typeface="Tahoma"/>
              </a:rPr>
              <a:t>Signal 	Gate</a:t>
            </a:r>
            <a:endParaRPr sz="1000">
              <a:latin typeface="Tahoma"/>
              <a:cs typeface="Tahoma"/>
            </a:endParaRPr>
          </a:p>
          <a:p>
            <a:pPr marL="168275" marR="55244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170180" algn="l"/>
              </a:tabLst>
            </a:pP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SpO</a:t>
            </a:r>
            <a:r>
              <a:rPr dirty="0" baseline="-11904" sz="1050">
                <a:solidFill>
                  <a:srgbClr val="111111"/>
                </a:solidFill>
                <a:latin typeface="Arial MT"/>
                <a:cs typeface="Arial MT"/>
              </a:rPr>
              <a:t>2</a:t>
            </a:r>
            <a:r>
              <a:rPr dirty="0" baseline="-11904" sz="1050" spc="187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R-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Ratio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11111"/>
                </a:solidFill>
                <a:latin typeface="Tahoma"/>
                <a:cs typeface="Tahoma"/>
              </a:rPr>
              <a:t>Jump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Check</a:t>
            </a:r>
            <a:r>
              <a:rPr dirty="0" sz="1000" spc="-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000" spc="-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111111"/>
                </a:solidFill>
                <a:latin typeface="Tahoma"/>
                <a:cs typeface="Tahoma"/>
              </a:rPr>
              <a:t>Stability 	Check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Next</a:t>
            </a:r>
            <a:r>
              <a:rPr dirty="0" spc="85"/>
              <a:t> </a:t>
            </a:r>
            <a:r>
              <a:rPr dirty="0" spc="-35"/>
              <a:t>Phase</a:t>
            </a:r>
            <a:r>
              <a:rPr dirty="0" spc="85"/>
              <a:t> </a:t>
            </a:r>
            <a:r>
              <a:rPr dirty="0"/>
              <a:t>-</a:t>
            </a:r>
            <a:r>
              <a:rPr dirty="0" spc="90"/>
              <a:t> </a:t>
            </a:r>
            <a:r>
              <a:rPr dirty="0"/>
              <a:t>Making</a:t>
            </a:r>
            <a:r>
              <a:rPr dirty="0" spc="90"/>
              <a:t> </a:t>
            </a:r>
            <a:r>
              <a:rPr dirty="0"/>
              <a:t>the</a:t>
            </a:r>
            <a:r>
              <a:rPr dirty="0" spc="85"/>
              <a:t> </a:t>
            </a:r>
            <a:r>
              <a:rPr dirty="0"/>
              <a:t>AI</a:t>
            </a:r>
            <a:r>
              <a:rPr dirty="0" spc="90"/>
              <a:t> </a:t>
            </a:r>
            <a:r>
              <a:rPr dirty="0"/>
              <a:t>More</a:t>
            </a:r>
            <a:r>
              <a:rPr dirty="0" spc="90"/>
              <a:t> </a:t>
            </a:r>
            <a:r>
              <a:rPr dirty="0" spc="-40"/>
              <a:t>Reliable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3816" y="405002"/>
          <a:ext cx="5208905" cy="1700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2070"/>
              </a:tblGrid>
              <a:tr h="225425">
                <a:tc>
                  <a:txBody>
                    <a:bodyPr/>
                    <a:lstStyle/>
                    <a:p>
                      <a:pPr marL="45720">
                        <a:lnSpc>
                          <a:spcPts val="1435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What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8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happens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next?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262626"/>
                    </a:solidFill>
                  </a:tcPr>
                </a:tc>
              </a:tr>
              <a:tr h="1475105">
                <a:tc>
                  <a:txBody>
                    <a:bodyPr/>
                    <a:lstStyle/>
                    <a:p>
                      <a:pPr marL="321310" marR="581025" indent="-130810">
                        <a:lnSpc>
                          <a:spcPct val="100000"/>
                        </a:lnSpc>
                        <a:spcBef>
                          <a:spcPts val="495"/>
                        </a:spcBef>
                        <a:buClr>
                          <a:srgbClr val="444444"/>
                        </a:buClr>
                        <a:buFont typeface="Arial MT"/>
                        <a:buChar char="•"/>
                        <a:tabLst>
                          <a:tab pos="323215" algn="l"/>
                        </a:tabLst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Once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complete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smartwatch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deployed,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latin typeface="Tahoma"/>
                          <a:cs typeface="Tahoma"/>
                        </a:rPr>
                        <a:t>sensor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will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collected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continuously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approximately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one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month.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321310" marR="158115" indent="-130810">
                        <a:lnSpc>
                          <a:spcPct val="100000"/>
                        </a:lnSpc>
                        <a:spcBef>
                          <a:spcPts val="290"/>
                        </a:spcBef>
                        <a:buClr>
                          <a:srgbClr val="444444"/>
                        </a:buClr>
                        <a:buFont typeface="Arial MT"/>
                        <a:buChar char="•"/>
                        <a:tabLst>
                          <a:tab pos="323215" algn="l"/>
                        </a:tabLst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This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real-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world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police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personnel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will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help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us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understand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normal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duty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patterns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across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different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situations.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321310" marR="546735" indent="-130810">
                        <a:lnSpc>
                          <a:spcPct val="100000"/>
                        </a:lnSpc>
                        <a:spcBef>
                          <a:spcPts val="290"/>
                        </a:spcBef>
                        <a:buClr>
                          <a:srgbClr val="444444"/>
                        </a:buClr>
                        <a:buFont typeface="Arial MT"/>
                        <a:buChar char="•"/>
                        <a:tabLst>
                          <a:tab pos="323215" algn="l"/>
                        </a:tabLst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We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will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perform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detailed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analysis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identify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false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alarms,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missed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detections,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behaviour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trends.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321310" marR="129539" indent="-130810">
                        <a:lnSpc>
                          <a:spcPct val="100000"/>
                        </a:lnSpc>
                        <a:spcBef>
                          <a:spcPts val="290"/>
                        </a:spcBef>
                        <a:buClr>
                          <a:srgbClr val="444444"/>
                        </a:buClr>
                        <a:buFont typeface="Arial MT"/>
                        <a:buChar char="•"/>
                        <a:tabLst>
                          <a:tab pos="323215" algn="l"/>
                        </a:tabLst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Using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these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insights,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the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models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will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retrained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fine-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tuned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improve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accuracy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reliability.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13816" y="2302217"/>
            <a:ext cx="5132705" cy="225425"/>
          </a:xfrm>
          <a:prstGeom prst="rect">
            <a:avLst/>
          </a:prstGeom>
          <a:solidFill>
            <a:srgbClr val="4C4C4C"/>
          </a:solidFill>
        </p:spPr>
        <p:txBody>
          <a:bodyPr wrap="square" lIns="0" tIns="0" rIns="0" bIns="0" rtlCol="0" vert="horz">
            <a:spAutoFit/>
          </a:bodyPr>
          <a:lstStyle/>
          <a:p>
            <a:pPr marL="45720">
              <a:lnSpc>
                <a:spcPts val="1435"/>
              </a:lnSpc>
            </a:pP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Expected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Impact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Police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3816" y="2527642"/>
            <a:ext cx="5132705" cy="67818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62865" rIns="0" bIns="0" rtlCol="0" vert="horz">
            <a:spAutoFit/>
          </a:bodyPr>
          <a:lstStyle/>
          <a:p>
            <a:pPr marL="321310" indent="-130810">
              <a:lnSpc>
                <a:spcPct val="100000"/>
              </a:lnSpc>
              <a:spcBef>
                <a:spcPts val="495"/>
              </a:spcBef>
              <a:buClr>
                <a:srgbClr val="444444"/>
              </a:buClr>
              <a:buFont typeface="Arial MT"/>
              <a:buChar char="•"/>
              <a:tabLst>
                <a:tab pos="321310" algn="l"/>
              </a:tabLst>
            </a:pPr>
            <a:r>
              <a:rPr dirty="0" sz="1000">
                <a:latin typeface="Tahoma"/>
                <a:cs typeface="Tahoma"/>
              </a:rPr>
              <a:t>More</a:t>
            </a:r>
            <a:r>
              <a:rPr dirty="0" sz="1000" spc="-30">
                <a:latin typeface="Tahoma"/>
                <a:cs typeface="Tahoma"/>
              </a:rPr>
              <a:t> reliable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stress,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fatigue,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cognitive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distraction.</a:t>
            </a:r>
            <a:endParaRPr sz="1000">
              <a:latin typeface="Tahoma"/>
              <a:cs typeface="Tahoma"/>
            </a:endParaRPr>
          </a:p>
          <a:p>
            <a:pPr marL="321310" indent="-130810">
              <a:lnSpc>
                <a:spcPct val="100000"/>
              </a:lnSpc>
              <a:spcBef>
                <a:spcPts val="290"/>
              </a:spcBef>
              <a:buClr>
                <a:srgbClr val="444444"/>
              </a:buClr>
              <a:buFont typeface="Arial MT"/>
              <a:buChar char="•"/>
              <a:tabLst>
                <a:tab pos="321310" algn="l"/>
              </a:tabLst>
            </a:pPr>
            <a:r>
              <a:rPr dirty="0" sz="1000" spc="-55">
                <a:latin typeface="Tahoma"/>
                <a:cs typeface="Tahoma"/>
              </a:rPr>
              <a:t>Fewer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false</a:t>
            </a:r>
            <a:r>
              <a:rPr dirty="0" sz="1000" spc="-25">
                <a:latin typeface="Tahoma"/>
                <a:cs typeface="Tahoma"/>
              </a:rPr>
              <a:t> alerts,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allowing </a:t>
            </a:r>
            <a:r>
              <a:rPr dirty="0" sz="1000" spc="-30">
                <a:latin typeface="Tahoma"/>
                <a:cs typeface="Tahoma"/>
              </a:rPr>
              <a:t>officers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trust</a:t>
            </a:r>
            <a:r>
              <a:rPr dirty="0" sz="1000" spc="-20">
                <a:latin typeface="Tahoma"/>
                <a:cs typeface="Tahoma"/>
              </a:rPr>
              <a:t> the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during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field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operations.</a:t>
            </a:r>
            <a:endParaRPr sz="1000">
              <a:latin typeface="Tahoma"/>
              <a:cs typeface="Tahoma"/>
            </a:endParaRPr>
          </a:p>
          <a:p>
            <a:pPr marL="321310" indent="-130810">
              <a:lnSpc>
                <a:spcPct val="100000"/>
              </a:lnSpc>
              <a:spcBef>
                <a:spcPts val="295"/>
              </a:spcBef>
              <a:buClr>
                <a:srgbClr val="444444"/>
              </a:buClr>
              <a:buFont typeface="Arial MT"/>
              <a:buChar char="•"/>
              <a:tabLst>
                <a:tab pos="321310" algn="l"/>
              </a:tabLst>
            </a:pPr>
            <a:r>
              <a:rPr dirty="0" sz="1000">
                <a:latin typeface="Tahoma"/>
                <a:cs typeface="Tahoma"/>
              </a:rPr>
              <a:t>Better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long-</a:t>
            </a:r>
            <a:r>
              <a:rPr dirty="0" sz="1000" spc="-20">
                <a:latin typeface="Tahoma"/>
                <a:cs typeface="Tahoma"/>
              </a:rPr>
              <a:t>term </a:t>
            </a:r>
            <a:r>
              <a:rPr dirty="0" sz="1000" spc="-30">
                <a:latin typeface="Tahoma"/>
                <a:cs typeface="Tahoma"/>
              </a:rPr>
              <a:t>monitoring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helps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supervisors</a:t>
            </a:r>
            <a:r>
              <a:rPr dirty="0" sz="1000" spc="-20">
                <a:latin typeface="Tahoma"/>
                <a:cs typeface="Tahoma"/>
              </a:rPr>
              <a:t> identify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personnel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who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may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need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support.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 Team</dc:creator>
  <dc:title>Police Personnel Monitoring System - Health &amp; Cognitive Monitoring — Progress, Blockers &amp; Team Queries</dc:title>
  <dcterms:created xsi:type="dcterms:W3CDTF">2026-07-10T04:13:10Z</dcterms:created>
  <dcterms:modified xsi:type="dcterms:W3CDTF">2026-07-10T04:13:10Z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2026-07-06T00:00:00Z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2026-07-10T00:00:00Z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